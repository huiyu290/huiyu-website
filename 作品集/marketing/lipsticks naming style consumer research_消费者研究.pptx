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2192000" cy="6858000"/>
  <p:notesSz cx="6858000" cy="9144000"/>
  <p:custDataLst>
    <p:tags r:id="rId3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38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gs" Target="tags/tag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6" name="Google Shape;76;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5" name="Google Shape;105;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 name="Shape 109"/>
        <p:cNvGrpSpPr/>
        <p:nvPr/>
      </p:nvGrpSpPr>
      <p:grpSpPr>
        <a:xfrm>
          <a:off x="0" y="0"/>
          <a:ext cx="0" cy="0"/>
          <a:chOff x="0" y="0"/>
          <a:chExt cx="0" cy="0"/>
        </a:xfrm>
      </p:grpSpPr>
      <p:sp>
        <p:nvSpPr>
          <p:cNvPr id="110" name="Google Shape;110;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1" name="Google Shape;111;p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g26ecb34b8fa_7_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g26ecb34b8fa_7_11: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6" name="Google Shape;136;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g2cd2bbb7c26_1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7" name="Google Shape;157;g2cd2bbb7c26_1_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3" name="Google Shape;163;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6" name="Shape 186"/>
        <p:cNvGrpSpPr/>
        <p:nvPr/>
      </p:nvGrpSpPr>
      <p:grpSpPr>
        <a:xfrm>
          <a:off x="0" y="0"/>
          <a:ext cx="0" cy="0"/>
          <a:chOff x="0" y="0"/>
          <a:chExt cx="0" cy="0"/>
        </a:xfrm>
      </p:grpSpPr>
      <p:sp>
        <p:nvSpPr>
          <p:cNvPr id="187" name="Google Shape;187;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8" name="Google Shape;188;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g2cd2bbb7c26_1_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2" name="Google Shape;202;g2cd2bbb7c26_1_5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4" name="Shape 214"/>
        <p:cNvGrpSpPr/>
        <p:nvPr/>
      </p:nvGrpSpPr>
      <p:grpSpPr>
        <a:xfrm>
          <a:off x="0" y="0"/>
          <a:ext cx="0" cy="0"/>
          <a:chOff x="0" y="0"/>
          <a:chExt cx="0" cy="0"/>
        </a:xfrm>
      </p:grpSpPr>
      <p:sp>
        <p:nvSpPr>
          <p:cNvPr id="215" name="Google Shape;215;g2cd2bbb7c26_1_6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6" name="Google Shape;216;g2cd2bbb7c26_1_66: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8" name="Shape 228"/>
        <p:cNvGrpSpPr/>
        <p:nvPr/>
      </p:nvGrpSpPr>
      <p:grpSpPr>
        <a:xfrm>
          <a:off x="0" y="0"/>
          <a:ext cx="0" cy="0"/>
          <a:chOff x="0" y="0"/>
          <a:chExt cx="0" cy="0"/>
        </a:xfrm>
      </p:grpSpPr>
      <p:sp>
        <p:nvSpPr>
          <p:cNvPr id="229" name="Google Shape;229;g2cd2bbb7c26_1_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0" name="Google Shape;230;g2cd2bbb7c26_1_78: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6" name="Shape 246"/>
        <p:cNvGrpSpPr/>
        <p:nvPr/>
      </p:nvGrpSpPr>
      <p:grpSpPr>
        <a:xfrm>
          <a:off x="0" y="0"/>
          <a:ext cx="0" cy="0"/>
          <a:chOff x="0" y="0"/>
          <a:chExt cx="0" cy="0"/>
        </a:xfrm>
      </p:grpSpPr>
      <p:sp>
        <p:nvSpPr>
          <p:cNvPr id="247" name="Google Shape;247;g2cd6ac163fd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8" name="Google Shape;248;g2cd6ac163fd_0_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2" name="Shape 252"/>
        <p:cNvGrpSpPr/>
        <p:nvPr/>
      </p:nvGrpSpPr>
      <p:grpSpPr>
        <a:xfrm>
          <a:off x="0" y="0"/>
          <a:ext cx="0" cy="0"/>
          <a:chOff x="0" y="0"/>
          <a:chExt cx="0" cy="0"/>
        </a:xfrm>
      </p:grpSpPr>
      <p:sp>
        <p:nvSpPr>
          <p:cNvPr id="253" name="Google Shape;253;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4" name="Google Shape;254;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8" name="Google Shape;268;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p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1" name="Google Shape;291;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8" name="Shape 298"/>
        <p:cNvGrpSpPr/>
        <p:nvPr/>
      </p:nvGrpSpPr>
      <p:grpSpPr>
        <a:xfrm>
          <a:off x="0" y="0"/>
          <a:ext cx="0" cy="0"/>
          <a:chOff x="0" y="0"/>
          <a:chExt cx="0" cy="0"/>
        </a:xfrm>
      </p:grpSpPr>
      <p:sp>
        <p:nvSpPr>
          <p:cNvPr id="299" name="Google Shape;299;g2cd80d15de2_0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0" name="Google Shape;300;g2cd80d15de2_0_2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2" name="Shape 312"/>
        <p:cNvGrpSpPr/>
        <p:nvPr/>
      </p:nvGrpSpPr>
      <p:grpSpPr>
        <a:xfrm>
          <a:off x="0" y="0"/>
          <a:ext cx="0" cy="0"/>
          <a:chOff x="0" y="0"/>
          <a:chExt cx="0" cy="0"/>
        </a:xfrm>
      </p:grpSpPr>
      <p:sp>
        <p:nvSpPr>
          <p:cNvPr id="313" name="Google Shape;313;g2cd80d15de2_0_13: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cd80d15de2_0_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8" name="Shape 318"/>
        <p:cNvGrpSpPr/>
        <p:nvPr/>
      </p:nvGrpSpPr>
      <p:grpSpPr>
        <a:xfrm>
          <a:off x="0" y="0"/>
          <a:ext cx="0" cy="0"/>
          <a:chOff x="0" y="0"/>
          <a:chExt cx="0" cy="0"/>
        </a:xfrm>
      </p:grpSpPr>
      <p:sp>
        <p:nvSpPr>
          <p:cNvPr id="319" name="Google Shape;319;g2cd7203bce8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20" name="Google Shape;320;g2cd7203bce8_0_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4" name="Shape 324"/>
        <p:cNvGrpSpPr/>
        <p:nvPr/>
      </p:nvGrpSpPr>
      <p:grpSpPr>
        <a:xfrm>
          <a:off x="0" y="0"/>
          <a:ext cx="0" cy="0"/>
          <a:chOff x="0" y="0"/>
          <a:chExt cx="0" cy="0"/>
        </a:xfrm>
      </p:grpSpPr>
      <p:sp>
        <p:nvSpPr>
          <p:cNvPr id="325" name="Google Shape;325;g2cd7203bce8_0_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cd7203bce8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1" name="Shape 331"/>
        <p:cNvGrpSpPr/>
        <p:nvPr/>
      </p:nvGrpSpPr>
      <p:grpSpPr>
        <a:xfrm>
          <a:off x="0" y="0"/>
          <a:ext cx="0" cy="0"/>
          <a:chOff x="0" y="0"/>
          <a:chExt cx="0" cy="0"/>
        </a:xfrm>
      </p:grpSpPr>
      <p:sp>
        <p:nvSpPr>
          <p:cNvPr id="332" name="Google Shape;332;g2cd7203bce8_0_21: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2cd7203bce8_0_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8" name="Shape 338"/>
        <p:cNvGrpSpPr/>
        <p:nvPr/>
      </p:nvGrpSpPr>
      <p:grpSpPr>
        <a:xfrm>
          <a:off x="0" y="0"/>
          <a:ext cx="0" cy="0"/>
          <a:chOff x="0" y="0"/>
          <a:chExt cx="0" cy="0"/>
        </a:xfrm>
      </p:grpSpPr>
      <p:sp>
        <p:nvSpPr>
          <p:cNvPr id="339" name="Google Shape;339;g2cd7203bce8_0_31: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2cd7203bce8_0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5" name="Shape 345"/>
        <p:cNvGrpSpPr/>
        <p:nvPr/>
      </p:nvGrpSpPr>
      <p:grpSpPr>
        <a:xfrm>
          <a:off x="0" y="0"/>
          <a:ext cx="0" cy="0"/>
          <a:chOff x="0" y="0"/>
          <a:chExt cx="0" cy="0"/>
        </a:xfrm>
      </p:grpSpPr>
      <p:sp>
        <p:nvSpPr>
          <p:cNvPr id="346" name="Google Shape;346;g2cd7203bce8_0_39: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2cd7203bce8_0_3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3" name="Shape 353"/>
        <p:cNvGrpSpPr/>
        <p:nvPr/>
      </p:nvGrpSpPr>
      <p:grpSpPr>
        <a:xfrm>
          <a:off x="0" y="0"/>
          <a:ext cx="0" cy="0"/>
          <a:chOff x="0" y="0"/>
          <a:chExt cx="0" cy="0"/>
        </a:xfrm>
      </p:grpSpPr>
      <p:sp>
        <p:nvSpPr>
          <p:cNvPr id="354" name="Google Shape;354;g2cd7203bce8_0_49: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cd7203bce8_0_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0" name="Shape 360"/>
        <p:cNvGrpSpPr/>
        <p:nvPr/>
      </p:nvGrpSpPr>
      <p:grpSpPr>
        <a:xfrm>
          <a:off x="0" y="0"/>
          <a:ext cx="0" cy="0"/>
          <a:chOff x="0" y="0"/>
          <a:chExt cx="0" cy="0"/>
        </a:xfrm>
      </p:grpSpPr>
      <p:sp>
        <p:nvSpPr>
          <p:cNvPr id="361" name="Google Shape;361;g2cd7203bce8_0_5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2cd7203bce8_0_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8" name="Shape 368"/>
        <p:cNvGrpSpPr/>
        <p:nvPr/>
      </p:nvGrpSpPr>
      <p:grpSpPr>
        <a:xfrm>
          <a:off x="0" y="0"/>
          <a:ext cx="0" cy="0"/>
          <a:chOff x="0" y="0"/>
          <a:chExt cx="0" cy="0"/>
        </a:xfrm>
      </p:grpSpPr>
      <p:sp>
        <p:nvSpPr>
          <p:cNvPr id="369" name="Google Shape;369;g2cd7203bce8_0_5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cd7203bce8_0_5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4" name="Shape 374"/>
        <p:cNvGrpSpPr/>
        <p:nvPr/>
      </p:nvGrpSpPr>
      <p:grpSpPr>
        <a:xfrm>
          <a:off x="0" y="0"/>
          <a:ext cx="0" cy="0"/>
          <a:chOff x="0" y="0"/>
          <a:chExt cx="0" cy="0"/>
        </a:xfrm>
      </p:grpSpPr>
      <p:sp>
        <p:nvSpPr>
          <p:cNvPr id="375" name="Google Shape;375;g2cd7203bce8_2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76" name="Google Shape;376;g2cd7203bce8_2_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p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82" name="Google Shape;382;p2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6" name="Shape 386"/>
        <p:cNvGrpSpPr/>
        <p:nvPr/>
      </p:nvGrpSpPr>
      <p:grpSpPr>
        <a:xfrm>
          <a:off x="0" y="0"/>
          <a:ext cx="0" cy="0"/>
          <a:chOff x="0" y="0"/>
          <a:chExt cx="0" cy="0"/>
        </a:xfrm>
      </p:grpSpPr>
      <p:sp>
        <p:nvSpPr>
          <p:cNvPr id="387" name="Google Shape;387;g2cd7203bce8_2_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88" name="Google Shape;388;g2cd7203bce8_2_1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9" name="Shape 399"/>
        <p:cNvGrpSpPr/>
        <p:nvPr/>
      </p:nvGrpSpPr>
      <p:grpSpPr>
        <a:xfrm>
          <a:off x="0" y="0"/>
          <a:ext cx="0" cy="0"/>
          <a:chOff x="0" y="0"/>
          <a:chExt cx="0" cy="0"/>
        </a:xfrm>
      </p:grpSpPr>
      <p:sp>
        <p:nvSpPr>
          <p:cNvPr id="400" name="Google Shape;400;p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01" name="Google Shape;401;p2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0" name="Shape 410"/>
        <p:cNvGrpSpPr/>
        <p:nvPr/>
      </p:nvGrpSpPr>
      <p:grpSpPr>
        <a:xfrm>
          <a:off x="0" y="0"/>
          <a:ext cx="0" cy="0"/>
          <a:chOff x="0" y="0"/>
          <a:chExt cx="0" cy="0"/>
        </a:xfrm>
      </p:grpSpPr>
      <p:sp>
        <p:nvSpPr>
          <p:cNvPr id="411" name="Google Shape;411;p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12" name="Google Shape;412;p2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p:cSld name="标题幻灯片">
    <p:spTree>
      <p:nvGrpSpPr>
        <p:cNvPr id="11" name="Shape 11"/>
        <p:cNvGrpSpPr/>
        <p:nvPr/>
      </p:nvGrpSpPr>
      <p:grpSpPr>
        <a:xfrm>
          <a:off x="0" y="0"/>
          <a:ext cx="0" cy="0"/>
          <a:chOff x="0" y="0"/>
          <a:chExt cx="0" cy="0"/>
        </a:xfrm>
      </p:grpSpPr>
      <p:pic>
        <p:nvPicPr>
          <p:cNvPr id="12" name="Google Shape;12;p26"/>
          <p:cNvPicPr preferRelativeResize="0"/>
          <p:nvPr/>
        </p:nvPicPr>
        <p:blipFill rotWithShape="1">
          <a:blip r:embed="rId2"/>
          <a:srcRect t="1119" r="544"/>
          <a:stretch>
            <a:fillRect/>
          </a:stretch>
        </p:blipFill>
        <p:spPr>
          <a:xfrm>
            <a:off x="0" y="1"/>
            <a:ext cx="12192000" cy="6858000"/>
          </a:xfrm>
          <a:prstGeom prst="rect">
            <a:avLst/>
          </a:prstGeom>
          <a:noFill/>
          <a:ln>
            <a:noFill/>
          </a:ln>
        </p:spPr>
      </p:pic>
      <p:sp>
        <p:nvSpPr>
          <p:cNvPr id="13" name="Google Shape;13;p26"/>
          <p:cNvSpPr txBox="1"/>
          <p:nvPr>
            <p:ph type="body" idx="1"/>
          </p:nvPr>
        </p:nvSpPr>
        <p:spPr>
          <a:xfrm>
            <a:off x="6589960" y="2651078"/>
            <a:ext cx="4892357" cy="1038163"/>
          </a:xfrm>
          <a:prstGeom prst="rect">
            <a:avLst/>
          </a:prstGeom>
          <a:noFill/>
          <a:ln>
            <a:noFill/>
          </a:ln>
        </p:spPr>
        <p:txBody>
          <a:bodyPr spcFirstLastPara="1" wrap="square" lIns="91425" tIns="45700" rIns="91425" bIns="45700" anchor="ctr" anchorCtr="0">
            <a:noAutofit/>
          </a:bodyPr>
          <a:lstStyle>
            <a:lvl1pPr marL="457200" lvl="0" indent="-228600" algn="r">
              <a:lnSpc>
                <a:spcPct val="90000"/>
              </a:lnSpc>
              <a:spcBef>
                <a:spcPts val="1000"/>
              </a:spcBef>
              <a:spcAft>
                <a:spcPts val="0"/>
              </a:spcAft>
              <a:buClr>
                <a:srgbClr val="262626"/>
              </a:buClr>
              <a:buSzPts val="3200"/>
              <a:buNone/>
              <a:defRPr sz="3200">
                <a:solidFill>
                  <a:srgbClr val="262626"/>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4" name="Google Shape;14;p26"/>
          <p:cNvSpPr txBox="1"/>
          <p:nvPr>
            <p:ph type="body" idx="2"/>
          </p:nvPr>
        </p:nvSpPr>
        <p:spPr>
          <a:xfrm>
            <a:off x="6221583" y="3760292"/>
            <a:ext cx="5260734" cy="821191"/>
          </a:xfrm>
          <a:prstGeom prst="rect">
            <a:avLst/>
          </a:prstGeom>
          <a:noFill/>
          <a:ln>
            <a:noFill/>
          </a:ln>
        </p:spPr>
        <p:txBody>
          <a:bodyPr spcFirstLastPara="1" wrap="square" lIns="91425" tIns="45700" rIns="91425" bIns="45700" anchor="t" anchorCtr="0">
            <a:noAutofit/>
          </a:bodyPr>
          <a:lstStyle>
            <a:lvl1pPr marL="457200" lvl="0" indent="-228600" algn="r">
              <a:lnSpc>
                <a:spcPct val="90000"/>
              </a:lnSpc>
              <a:spcBef>
                <a:spcPts val="1000"/>
              </a:spcBef>
              <a:spcAft>
                <a:spcPts val="0"/>
              </a:spcAft>
              <a:buClr>
                <a:srgbClr val="262626"/>
              </a:buClr>
              <a:buSzPts val="1800"/>
              <a:buFont typeface="Arial" panose="020B0604020202020204"/>
              <a:buNone/>
              <a:defRPr sz="1800">
                <a:solidFill>
                  <a:srgbClr val="262626"/>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pic>
        <p:nvPicPr>
          <p:cNvPr id="15" name="Google Shape;15;p26"/>
          <p:cNvPicPr preferRelativeResize="0"/>
          <p:nvPr/>
        </p:nvPicPr>
        <p:blipFill rotWithShape="1">
          <a:blip r:embed="rId3"/>
          <a:srcRect/>
          <a:stretch>
            <a:fillRect/>
          </a:stretch>
        </p:blipFill>
        <p:spPr>
          <a:xfrm>
            <a:off x="0" y="341990"/>
            <a:ext cx="10431331" cy="651600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两栏内容">
  <p:cSld name="两栏内容">
    <p:spTree>
      <p:nvGrpSpPr>
        <p:cNvPr id="16" name="Shape 16"/>
        <p:cNvGrpSpPr/>
        <p:nvPr/>
      </p:nvGrpSpPr>
      <p:grpSpPr>
        <a:xfrm>
          <a:off x="0" y="0"/>
          <a:ext cx="0" cy="0"/>
          <a:chOff x="0" y="0"/>
          <a:chExt cx="0" cy="0"/>
        </a:xfrm>
      </p:grpSpPr>
      <p:pic>
        <p:nvPicPr>
          <p:cNvPr id="17" name="Google Shape;17;p27"/>
          <p:cNvPicPr preferRelativeResize="0"/>
          <p:nvPr/>
        </p:nvPicPr>
        <p:blipFill rotWithShape="1">
          <a:blip r:embed="rId2"/>
          <a:srcRect t="1119" r="544"/>
          <a:stretch>
            <a:fillRect/>
          </a:stretch>
        </p:blipFill>
        <p:spPr>
          <a:xfrm flipH="1">
            <a:off x="0" y="1"/>
            <a:ext cx="12192000" cy="6858000"/>
          </a:xfrm>
          <a:prstGeom prst="rect">
            <a:avLst/>
          </a:prstGeom>
          <a:noFill/>
          <a:ln>
            <a:noFill/>
          </a:ln>
        </p:spPr>
      </p:pic>
      <p:pic>
        <p:nvPicPr>
          <p:cNvPr id="18" name="Google Shape;18;p27"/>
          <p:cNvPicPr preferRelativeResize="0"/>
          <p:nvPr/>
        </p:nvPicPr>
        <p:blipFill rotWithShape="1">
          <a:blip r:embed="rId3"/>
          <a:srcRect l="23100" b="4540"/>
          <a:stretch>
            <a:fillRect/>
          </a:stretch>
        </p:blipFill>
        <p:spPr>
          <a:xfrm flipH="1">
            <a:off x="9404836" y="846161"/>
            <a:ext cx="2787163" cy="601183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比较">
  <p:cSld name="比较">
    <p:spTree>
      <p:nvGrpSpPr>
        <p:cNvPr id="19" name="Shape 19"/>
        <p:cNvGrpSpPr/>
        <p:nvPr/>
      </p:nvGrpSpPr>
      <p:grpSpPr>
        <a:xfrm>
          <a:off x="0" y="0"/>
          <a:ext cx="0" cy="0"/>
          <a:chOff x="0" y="0"/>
          <a:chExt cx="0" cy="0"/>
        </a:xfrm>
      </p:grpSpPr>
      <p:pic>
        <p:nvPicPr>
          <p:cNvPr id="20" name="Google Shape;20;p28"/>
          <p:cNvPicPr preferRelativeResize="0"/>
          <p:nvPr/>
        </p:nvPicPr>
        <p:blipFill rotWithShape="1">
          <a:blip r:embed="rId2"/>
          <a:srcRect/>
          <a:stretch>
            <a:fillRect/>
          </a:stretch>
        </p:blipFill>
        <p:spPr>
          <a:xfrm>
            <a:off x="422239" y="208625"/>
            <a:ext cx="1261268" cy="91049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标题和内容">
  <p:cSld name="标题和内容">
    <p:spTree>
      <p:nvGrpSpPr>
        <p:cNvPr id="21" name="Shape 21"/>
        <p:cNvGrpSpPr/>
        <p:nvPr/>
      </p:nvGrpSpPr>
      <p:grpSpPr>
        <a:xfrm>
          <a:off x="0" y="0"/>
          <a:ext cx="0" cy="0"/>
          <a:chOff x="0" y="0"/>
          <a:chExt cx="0" cy="0"/>
        </a:xfrm>
      </p:grpSpPr>
      <p:pic>
        <p:nvPicPr>
          <p:cNvPr id="22" name="Google Shape;22;p29"/>
          <p:cNvPicPr preferRelativeResize="0"/>
          <p:nvPr/>
        </p:nvPicPr>
        <p:blipFill rotWithShape="1">
          <a:blip r:embed="rId2"/>
          <a:srcRect t="1119" r="544"/>
          <a:stretch>
            <a:fillRect/>
          </a:stretch>
        </p:blipFill>
        <p:spPr>
          <a:xfrm>
            <a:off x="0" y="1"/>
            <a:ext cx="12192000" cy="6858000"/>
          </a:xfrm>
          <a:prstGeom prst="rect">
            <a:avLst/>
          </a:prstGeom>
          <a:noFill/>
          <a:ln>
            <a:noFill/>
          </a:ln>
        </p:spPr>
      </p:pic>
      <p:pic>
        <p:nvPicPr>
          <p:cNvPr id="23" name="Google Shape;23;p29"/>
          <p:cNvPicPr preferRelativeResize="0"/>
          <p:nvPr/>
        </p:nvPicPr>
        <p:blipFill rotWithShape="1">
          <a:blip r:embed="rId3"/>
          <a:srcRect/>
          <a:stretch>
            <a:fillRect/>
          </a:stretch>
        </p:blipFill>
        <p:spPr>
          <a:xfrm>
            <a:off x="1871493" y="3437048"/>
            <a:ext cx="8749264" cy="3218424"/>
          </a:xfrm>
          <a:prstGeom prst="rect">
            <a:avLst/>
          </a:prstGeom>
          <a:noFill/>
          <a:ln>
            <a:noFill/>
          </a:ln>
        </p:spPr>
      </p:pic>
      <p:sp>
        <p:nvSpPr>
          <p:cNvPr id="24" name="Google Shape;24;p29"/>
          <p:cNvSpPr txBox="1"/>
          <p:nvPr>
            <p:ph type="body" idx="1"/>
          </p:nvPr>
        </p:nvSpPr>
        <p:spPr>
          <a:xfrm>
            <a:off x="3298031" y="2826410"/>
            <a:ext cx="5595938" cy="62829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1800"/>
              <a:buFont typeface="Arial" panose="020B0604020202020204"/>
              <a:buNone/>
              <a:defRPr sz="1800"/>
            </a:lvl1pPr>
            <a:lvl2pPr marL="914400" lvl="1" indent="-228600" algn="l">
              <a:lnSpc>
                <a:spcPct val="90000"/>
              </a:lnSpc>
              <a:spcBef>
                <a:spcPts val="500"/>
              </a:spcBef>
              <a:spcAft>
                <a:spcPts val="0"/>
              </a:spcAft>
              <a:buClr>
                <a:schemeClr val="dk1"/>
              </a:buClr>
              <a:buSzPts val="24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5" name="Google Shape;25;p29"/>
          <p:cNvSpPr txBox="1"/>
          <p:nvPr>
            <p:ph type="body" idx="2"/>
          </p:nvPr>
        </p:nvSpPr>
        <p:spPr>
          <a:xfrm>
            <a:off x="3308350" y="1823308"/>
            <a:ext cx="5575300" cy="970809"/>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4800"/>
              <a:buFont typeface="Arial" panose="020B0604020202020204"/>
              <a:buNone/>
              <a:defRPr sz="48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空白">
  <p:cSld name="空白">
    <p:spTree>
      <p:nvGrpSpPr>
        <p:cNvPr id="26" name="Shape 26"/>
        <p:cNvGrpSpPr/>
        <p:nvPr/>
      </p:nvGrpSpPr>
      <p:grpSpPr>
        <a:xfrm>
          <a:off x="0" y="0"/>
          <a:ext cx="0" cy="0"/>
          <a:chOff x="0" y="0"/>
          <a:chExt cx="0" cy="0"/>
        </a:xfrm>
      </p:grpSpPr>
      <p:sp>
        <p:nvSpPr>
          <p:cNvPr id="27" name="Google Shape;27;p3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30" name="Google Shape;30;p30"/>
          <p:cNvSpPr/>
          <p:nvPr>
            <p:ph type="pic" idx="2"/>
          </p:nvPr>
        </p:nvSpPr>
        <p:spPr>
          <a:xfrm>
            <a:off x="604520" y="1203961"/>
            <a:ext cx="6268721" cy="4450080"/>
          </a:xfrm>
          <a:prstGeom prst="rect">
            <a:avLst/>
          </a:prstGeom>
          <a:noFill/>
          <a:ln>
            <a:noFill/>
          </a:ln>
        </p:spPr>
      </p:sp>
      <p:sp>
        <p:nvSpPr>
          <p:cNvPr id="31" name="Google Shape;31;p30"/>
          <p:cNvSpPr txBox="1"/>
          <p:nvPr>
            <p:ph type="body" idx="1"/>
          </p:nvPr>
        </p:nvSpPr>
        <p:spPr>
          <a:xfrm>
            <a:off x="7485379" y="2704595"/>
            <a:ext cx="4102100" cy="37353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Font typeface="Arial" panose="020B0604020202020204"/>
              <a:buNone/>
              <a:defRPr sz="2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30"/>
          <p:cNvSpPr txBox="1"/>
          <p:nvPr>
            <p:ph type="body" idx="3"/>
          </p:nvPr>
        </p:nvSpPr>
        <p:spPr>
          <a:xfrm>
            <a:off x="7485379" y="1104396"/>
            <a:ext cx="4102101" cy="160019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4000"/>
              <a:buFont typeface="Arial" panose="020B0604020202020204"/>
              <a:buNone/>
              <a:defRPr sz="4000">
                <a:solidFill>
                  <a:schemeClr val="accen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cxnSp>
        <p:nvCxnSpPr>
          <p:cNvPr id="33" name="Google Shape;33;p30"/>
          <p:cNvCxnSpPr/>
          <p:nvPr/>
        </p:nvCxnSpPr>
        <p:spPr>
          <a:xfrm>
            <a:off x="7576819" y="2466068"/>
            <a:ext cx="657990" cy="0"/>
          </a:xfrm>
          <a:prstGeom prst="straightConnector1">
            <a:avLst/>
          </a:prstGeom>
          <a:noFill/>
          <a:ln w="38100" cap="flat" cmpd="sng">
            <a:solidFill>
              <a:schemeClr val="accent1"/>
            </a:solidFill>
            <a:prstDash val="solid"/>
            <a:miter lim="800000"/>
            <a:headEnd type="none" w="sm" len="sm"/>
            <a:tailEnd type="none" w="sm" len="sm"/>
          </a:ln>
        </p:spPr>
      </p:cxnSp>
      <p:pic>
        <p:nvPicPr>
          <p:cNvPr id="34" name="Google Shape;34;p30"/>
          <p:cNvPicPr preferRelativeResize="0"/>
          <p:nvPr/>
        </p:nvPicPr>
        <p:blipFill rotWithShape="1">
          <a:blip r:embed="rId2"/>
          <a:srcRect l="41628"/>
          <a:stretch>
            <a:fillRect/>
          </a:stretch>
        </p:blipFill>
        <p:spPr>
          <a:xfrm rot="5400000">
            <a:off x="10112547" y="-1027384"/>
            <a:ext cx="1052069" cy="310683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p:cSld name="仅标题">
    <p:spTree>
      <p:nvGrpSpPr>
        <p:cNvPr id="35" name="Shape 35"/>
        <p:cNvGrpSpPr/>
        <p:nvPr/>
      </p:nvGrpSpPr>
      <p:grpSpPr>
        <a:xfrm>
          <a:off x="0" y="0"/>
          <a:ext cx="0" cy="0"/>
          <a:chOff x="0" y="0"/>
          <a:chExt cx="0" cy="0"/>
        </a:xfrm>
      </p:grpSpPr>
      <p:sp>
        <p:nvSpPr>
          <p:cNvPr id="36" name="Google Shape;36;p3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39" name="Google Shape;39;p3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sz="18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pic>
        <p:nvPicPr>
          <p:cNvPr id="41" name="Google Shape;41;p31"/>
          <p:cNvPicPr preferRelativeResize="0"/>
          <p:nvPr/>
        </p:nvPicPr>
        <p:blipFill rotWithShape="1">
          <a:blip r:embed="rId2"/>
          <a:srcRect/>
          <a:stretch>
            <a:fillRect/>
          </a:stretch>
        </p:blipFill>
        <p:spPr>
          <a:xfrm>
            <a:off x="0" y="357818"/>
            <a:ext cx="2040376" cy="646437"/>
          </a:xfrm>
          <a:prstGeom prst="rect">
            <a:avLst/>
          </a:prstGeom>
          <a:noFill/>
          <a:ln>
            <a:noFill/>
          </a:ln>
        </p:spPr>
      </p:pic>
      <p:pic>
        <p:nvPicPr>
          <p:cNvPr id="42" name="Google Shape;42;p31"/>
          <p:cNvPicPr preferRelativeResize="0"/>
          <p:nvPr/>
        </p:nvPicPr>
        <p:blipFill rotWithShape="1">
          <a:blip r:embed="rId3"/>
          <a:srcRect/>
          <a:stretch>
            <a:fillRect/>
          </a:stretch>
        </p:blipFill>
        <p:spPr>
          <a:xfrm rot="5400000">
            <a:off x="9419050" y="4147545"/>
            <a:ext cx="1420643" cy="244885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节标题">
  <p:cSld name="节标题">
    <p:spTree>
      <p:nvGrpSpPr>
        <p:cNvPr id="43" name="Shape 43"/>
        <p:cNvGrpSpPr/>
        <p:nvPr/>
      </p:nvGrpSpPr>
      <p:grpSpPr>
        <a:xfrm>
          <a:off x="0" y="0"/>
          <a:ext cx="0" cy="0"/>
          <a:chOff x="0" y="0"/>
          <a:chExt cx="0" cy="0"/>
        </a:xfrm>
      </p:grpSpPr>
      <p:pic>
        <p:nvPicPr>
          <p:cNvPr id="44" name="Google Shape;44;p32"/>
          <p:cNvPicPr preferRelativeResize="0"/>
          <p:nvPr/>
        </p:nvPicPr>
        <p:blipFill rotWithShape="1">
          <a:blip r:embed="rId2"/>
          <a:srcRect t="1119" r="544"/>
          <a:stretch>
            <a:fillRect/>
          </a:stretch>
        </p:blipFill>
        <p:spPr>
          <a:xfrm>
            <a:off x="0" y="1"/>
            <a:ext cx="12192000" cy="6858000"/>
          </a:xfrm>
          <a:prstGeom prst="rect">
            <a:avLst/>
          </a:prstGeom>
          <a:noFill/>
          <a:ln>
            <a:noFill/>
          </a:ln>
        </p:spPr>
      </p:pic>
      <p:pic>
        <p:nvPicPr>
          <p:cNvPr id="45" name="Google Shape;45;p32"/>
          <p:cNvPicPr preferRelativeResize="0"/>
          <p:nvPr/>
        </p:nvPicPr>
        <p:blipFill rotWithShape="1">
          <a:blip r:embed="rId3"/>
          <a:srcRect/>
          <a:stretch>
            <a:fillRect/>
          </a:stretch>
        </p:blipFill>
        <p:spPr>
          <a:xfrm>
            <a:off x="1348808" y="1"/>
            <a:ext cx="1389255" cy="6605515"/>
          </a:xfrm>
          <a:prstGeom prst="rect">
            <a:avLst/>
          </a:prstGeom>
          <a:noFill/>
          <a:ln>
            <a:noFill/>
          </a:ln>
        </p:spPr>
      </p:pic>
      <p:sp>
        <p:nvSpPr>
          <p:cNvPr id="46" name="Google Shape;46;p32"/>
          <p:cNvSpPr txBox="1"/>
          <p:nvPr>
            <p:ph type="body" idx="1"/>
          </p:nvPr>
        </p:nvSpPr>
        <p:spPr>
          <a:xfrm>
            <a:off x="5155692" y="3303668"/>
            <a:ext cx="4892357" cy="1038163"/>
          </a:xfrm>
          <a:prstGeom prst="rect">
            <a:avLst/>
          </a:prstGeom>
          <a:noFill/>
          <a:ln>
            <a:noFill/>
          </a:ln>
        </p:spPr>
        <p:txBody>
          <a:bodyPr spcFirstLastPara="1" wrap="square" lIns="91425" tIns="45700" rIns="91425" bIns="45700" anchor="ctr" anchorCtr="0">
            <a:noAutofit/>
          </a:bodyPr>
          <a:lstStyle>
            <a:lvl1pPr marL="457200" lvl="0" indent="-228600" algn="l">
              <a:lnSpc>
                <a:spcPct val="90000"/>
              </a:lnSpc>
              <a:spcBef>
                <a:spcPts val="1000"/>
              </a:spcBef>
              <a:spcAft>
                <a:spcPts val="0"/>
              </a:spcAft>
              <a:buClr>
                <a:srgbClr val="262626"/>
              </a:buClr>
              <a:buSzPts val="3200"/>
              <a:buNone/>
              <a:defRPr sz="3200">
                <a:solidFill>
                  <a:srgbClr val="262626"/>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7" name="Google Shape;47;p32"/>
          <p:cNvSpPr txBox="1"/>
          <p:nvPr>
            <p:ph type="body" idx="2"/>
          </p:nvPr>
        </p:nvSpPr>
        <p:spPr>
          <a:xfrm>
            <a:off x="5155692" y="4412882"/>
            <a:ext cx="5260734" cy="821191"/>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262626"/>
              </a:buClr>
              <a:buSzPts val="1800"/>
              <a:buFont typeface="Arial" panose="020B0604020202020204"/>
              <a:buNone/>
              <a:defRPr sz="1800">
                <a:solidFill>
                  <a:srgbClr val="262626"/>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48" name="Shape 48"/>
        <p:cNvGrpSpPr/>
        <p:nvPr/>
      </p:nvGrpSpPr>
      <p:grpSpPr>
        <a:xfrm>
          <a:off x="0" y="0"/>
          <a:ext cx="0" cy="0"/>
          <a:chOff x="0" y="0"/>
          <a:chExt cx="0" cy="0"/>
        </a:xfrm>
      </p:grpSpPr>
      <p:sp>
        <p:nvSpPr>
          <p:cNvPr id="49" name="Google Shape;49;p33"/>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panose="020B060402020202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3"/>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1" name="Google Shape;51;p33"/>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2" name="Google Shape;52;p3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55" name="Shape 55"/>
        <p:cNvGrpSpPr/>
        <p:nvPr/>
      </p:nvGrpSpPr>
      <p:grpSpPr>
        <a:xfrm>
          <a:off x="0" y="0"/>
          <a:ext cx="0" cy="0"/>
          <a:chOff x="0" y="0"/>
          <a:chExt cx="0" cy="0"/>
        </a:xfrm>
      </p:grpSpPr>
      <p:sp>
        <p:nvSpPr>
          <p:cNvPr id="56" name="Google Shape;56;p34"/>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panose="020B060402020202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4"/>
          <p:cNvSpPr/>
          <p:nvPr>
            <p:ph type="pic" idx="2"/>
          </p:nvPr>
        </p:nvSpPr>
        <p:spPr>
          <a:xfrm>
            <a:off x="5183188" y="987425"/>
            <a:ext cx="6172200" cy="4873625"/>
          </a:xfrm>
          <a:prstGeom prst="rect">
            <a:avLst/>
          </a:prstGeom>
          <a:noFill/>
          <a:ln>
            <a:noFill/>
          </a:ln>
        </p:spPr>
      </p:sp>
      <p:sp>
        <p:nvSpPr>
          <p:cNvPr id="58" name="Google Shape;58;p34"/>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9" name="Google Shape;59;p3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2" name="Shape 62"/>
        <p:cNvGrpSpPr/>
        <p:nvPr/>
      </p:nvGrpSpPr>
      <p:grpSpPr>
        <a:xfrm>
          <a:off x="0" y="0"/>
          <a:ext cx="0" cy="0"/>
          <a:chOff x="0" y="0"/>
          <a:chExt cx="0" cy="0"/>
        </a:xfrm>
      </p:grpSpPr>
      <p:sp>
        <p:nvSpPr>
          <p:cNvPr id="63" name="Google Shape;63;p3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5"/>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5" name="Google Shape;65;p3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垂直排列标题与&#10;文本">
  <p:cSld name="VERTICAL_TITLE_AND_VERTICAL_TEXT">
    <p:spTree>
      <p:nvGrpSpPr>
        <p:cNvPr id="68" name="Shape 68"/>
        <p:cNvGrpSpPr/>
        <p:nvPr/>
      </p:nvGrpSpPr>
      <p:grpSpPr>
        <a:xfrm>
          <a:off x="0" y="0"/>
          <a:ext cx="0" cy="0"/>
          <a:chOff x="0" y="0"/>
          <a:chExt cx="0" cy="0"/>
        </a:xfrm>
      </p:grpSpPr>
      <p:sp>
        <p:nvSpPr>
          <p:cNvPr id="69" name="Google Shape;69;p36"/>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2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p2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Google Shape;9;p2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Google Shape;10;p2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3.xml"/><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3.xml"/><Relationship Id="rId4" Type="http://schemas.openxmlformats.org/officeDocument/2006/relationships/image" Target="../media/image20.png"/><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3.xml"/><Relationship Id="rId2" Type="http://schemas.openxmlformats.org/officeDocument/2006/relationships/image" Target="../media/image25.png"/><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3.xml"/><Relationship Id="rId2" Type="http://schemas.openxmlformats.org/officeDocument/2006/relationships/image" Target="../media/image28.png"/><Relationship Id="rId1"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3.xml"/><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3.xml"/><Relationship Id="rId2" Type="http://schemas.openxmlformats.org/officeDocument/2006/relationships/image" Target="../media/image13.jpeg"/><Relationship Id="rId1" Type="http://schemas.openxmlformats.org/officeDocument/2006/relationships/image" Target="../media/image29.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7" name="Shape 77"/>
        <p:cNvGrpSpPr/>
        <p:nvPr/>
      </p:nvGrpSpPr>
      <p:grpSpPr>
        <a:xfrm>
          <a:off x="0" y="0"/>
          <a:ext cx="0" cy="0"/>
          <a:chOff x="0" y="0"/>
          <a:chExt cx="0" cy="0"/>
        </a:xfrm>
      </p:grpSpPr>
      <p:sp>
        <p:nvSpPr>
          <p:cNvPr id="79" name="Google Shape;79;p1"/>
          <p:cNvSpPr/>
          <p:nvPr/>
        </p:nvSpPr>
        <p:spPr>
          <a:xfrm>
            <a:off x="4667750" y="1426025"/>
            <a:ext cx="7419000" cy="2328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0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Research on the Influence of Celebrity Nickname Lipsticks on Consumers' Purchase Intention</a:t>
            </a:r>
            <a:endParaRPr sz="40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SzPts val="1100"/>
              <a:buNone/>
            </a:pPr>
            <a:endParaRPr sz="2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spcBef>
                <a:spcPts val="0"/>
              </a:spcBef>
              <a:spcAft>
                <a:spcPts val="0"/>
              </a:spcAft>
              <a:buNone/>
            </a:pPr>
            <a:endParaRPr sz="40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2"/>
          <p:cNvSpPr txBox="1"/>
          <p:nvPr/>
        </p:nvSpPr>
        <p:spPr>
          <a:xfrm>
            <a:off x="5002948" y="473775"/>
            <a:ext cx="2490900" cy="6465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600" b="1" i="0" u="none" strike="noStrike" cap="none">
                <a:solidFill>
                  <a:srgbClr val="262626"/>
                </a:solidFill>
                <a:latin typeface="Times New Roman" panose="02020603050405020304"/>
                <a:ea typeface="Times New Roman" panose="02020603050405020304"/>
                <a:cs typeface="Times New Roman" panose="02020603050405020304"/>
                <a:sym typeface="Times New Roman" panose="02020603050405020304"/>
              </a:rPr>
              <a:t>Contents</a:t>
            </a:r>
            <a:endParaRPr sz="3600" b="1" i="0" u="none" strike="noStrike" cap="none">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85" name="Google Shape;85;p2"/>
          <p:cNvPicPr preferRelativeResize="0"/>
          <p:nvPr/>
        </p:nvPicPr>
        <p:blipFill rotWithShape="1">
          <a:blip r:embed="rId1"/>
          <a:srcRect/>
          <a:stretch>
            <a:fillRect/>
          </a:stretch>
        </p:blipFill>
        <p:spPr>
          <a:xfrm>
            <a:off x="1375638" y="1694819"/>
            <a:ext cx="1556730" cy="1123781"/>
          </a:xfrm>
          <a:prstGeom prst="rect">
            <a:avLst/>
          </a:prstGeom>
          <a:noFill/>
          <a:ln>
            <a:noFill/>
          </a:ln>
        </p:spPr>
      </p:pic>
      <p:sp>
        <p:nvSpPr>
          <p:cNvPr id="86" name="Google Shape;86;p2"/>
          <p:cNvSpPr txBox="1"/>
          <p:nvPr/>
        </p:nvSpPr>
        <p:spPr>
          <a:xfrm>
            <a:off x="1541645" y="2215765"/>
            <a:ext cx="4953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01</a:t>
            </a: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7" name="Google Shape;87;p2"/>
          <p:cNvSpPr txBox="1"/>
          <p:nvPr/>
        </p:nvSpPr>
        <p:spPr>
          <a:xfrm>
            <a:off x="2526775" y="1835175"/>
            <a:ext cx="4000800" cy="6084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Introduction </a:t>
            </a: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88" name="Google Shape;88;p2"/>
          <p:cNvPicPr preferRelativeResize="0"/>
          <p:nvPr/>
        </p:nvPicPr>
        <p:blipFill rotWithShape="1">
          <a:blip r:embed="rId1"/>
          <a:srcRect/>
          <a:stretch>
            <a:fillRect/>
          </a:stretch>
        </p:blipFill>
        <p:spPr>
          <a:xfrm>
            <a:off x="6513958" y="1694819"/>
            <a:ext cx="1556730" cy="1123781"/>
          </a:xfrm>
          <a:prstGeom prst="rect">
            <a:avLst/>
          </a:prstGeom>
          <a:noFill/>
          <a:ln>
            <a:noFill/>
          </a:ln>
        </p:spPr>
      </p:pic>
      <p:sp>
        <p:nvSpPr>
          <p:cNvPr id="89" name="Google Shape;89;p2"/>
          <p:cNvSpPr txBox="1"/>
          <p:nvPr/>
        </p:nvSpPr>
        <p:spPr>
          <a:xfrm>
            <a:off x="6679965" y="2215765"/>
            <a:ext cx="4953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lt1"/>
                </a:solidFill>
              </a:rPr>
              <a:t>04</a:t>
            </a: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0" name="Google Shape;90;p2"/>
          <p:cNvSpPr txBox="1"/>
          <p:nvPr/>
        </p:nvSpPr>
        <p:spPr>
          <a:xfrm>
            <a:off x="7861451" y="1800106"/>
            <a:ext cx="2373600" cy="608400"/>
          </a:xfrm>
          <a:prstGeom prst="rect">
            <a:avLst/>
          </a:prstGeom>
          <a:noFill/>
          <a:ln>
            <a:noFill/>
          </a:ln>
        </p:spPr>
        <p:txBody>
          <a:bodyPr spcFirstLastPara="1" wrap="square" lIns="91425" tIns="45700" rIns="91425" bIns="45700" anchor="b" anchorCtr="0">
            <a:normAutofit/>
          </a:bodyPr>
          <a:lstStyle/>
          <a:p>
            <a:pPr marL="0" marR="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Method</a:t>
            </a: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1" name="Google Shape;91;p2"/>
          <p:cNvPicPr preferRelativeResize="0"/>
          <p:nvPr/>
        </p:nvPicPr>
        <p:blipFill rotWithShape="1">
          <a:blip r:embed="rId1"/>
          <a:srcRect/>
          <a:stretch>
            <a:fillRect/>
          </a:stretch>
        </p:blipFill>
        <p:spPr>
          <a:xfrm>
            <a:off x="1375638" y="2990219"/>
            <a:ext cx="1556730" cy="1123781"/>
          </a:xfrm>
          <a:prstGeom prst="rect">
            <a:avLst/>
          </a:prstGeom>
          <a:noFill/>
          <a:ln>
            <a:noFill/>
          </a:ln>
        </p:spPr>
      </p:pic>
      <p:sp>
        <p:nvSpPr>
          <p:cNvPr id="92" name="Google Shape;92;p2"/>
          <p:cNvSpPr txBox="1"/>
          <p:nvPr/>
        </p:nvSpPr>
        <p:spPr>
          <a:xfrm>
            <a:off x="1541645" y="3511165"/>
            <a:ext cx="4953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0</a:t>
            </a:r>
            <a:r>
              <a:rPr lang="en-US" sz="1800">
                <a:solidFill>
                  <a:schemeClr val="lt1"/>
                </a:solidFill>
              </a:rPr>
              <a:t>2</a:t>
            </a: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3" name="Google Shape;93;p2"/>
          <p:cNvSpPr txBox="1"/>
          <p:nvPr/>
        </p:nvSpPr>
        <p:spPr>
          <a:xfrm>
            <a:off x="2526775" y="3130575"/>
            <a:ext cx="4000800" cy="6084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4" name="Google Shape;94;p2"/>
          <p:cNvPicPr preferRelativeResize="0"/>
          <p:nvPr/>
        </p:nvPicPr>
        <p:blipFill rotWithShape="1">
          <a:blip r:embed="rId1"/>
          <a:srcRect/>
          <a:stretch>
            <a:fillRect/>
          </a:stretch>
        </p:blipFill>
        <p:spPr>
          <a:xfrm>
            <a:off x="6513958" y="2990219"/>
            <a:ext cx="1556730" cy="1123781"/>
          </a:xfrm>
          <a:prstGeom prst="rect">
            <a:avLst/>
          </a:prstGeom>
          <a:noFill/>
          <a:ln>
            <a:noFill/>
          </a:ln>
        </p:spPr>
      </p:pic>
      <p:sp>
        <p:nvSpPr>
          <p:cNvPr id="95" name="Google Shape;95;p2"/>
          <p:cNvSpPr txBox="1"/>
          <p:nvPr/>
        </p:nvSpPr>
        <p:spPr>
          <a:xfrm>
            <a:off x="6679965" y="3511165"/>
            <a:ext cx="4953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0</a:t>
            </a:r>
            <a:r>
              <a:rPr lang="en-US" sz="1800">
                <a:solidFill>
                  <a:schemeClr val="lt1"/>
                </a:solidFill>
              </a:rPr>
              <a:t>5</a:t>
            </a: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6" name="Google Shape;96;p2"/>
          <p:cNvSpPr txBox="1"/>
          <p:nvPr/>
        </p:nvSpPr>
        <p:spPr>
          <a:xfrm>
            <a:off x="7861451" y="3095507"/>
            <a:ext cx="2373600" cy="608400"/>
          </a:xfrm>
          <a:prstGeom prst="rect">
            <a:avLst/>
          </a:prstGeom>
          <a:noFill/>
          <a:ln>
            <a:noFill/>
          </a:ln>
        </p:spPr>
        <p:txBody>
          <a:bodyPr spcFirstLastPara="1" wrap="square" lIns="91425" tIns="45700" rIns="91425" bIns="45700" anchor="b" anchorCtr="0">
            <a:normAutofit/>
          </a:bodyPr>
          <a:lstStyle/>
          <a:p>
            <a:pPr marL="0" marR="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Result</a:t>
            </a: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7" name="Google Shape;97;p2"/>
          <p:cNvPicPr preferRelativeResize="0"/>
          <p:nvPr/>
        </p:nvPicPr>
        <p:blipFill rotWithShape="1">
          <a:blip r:embed="rId1"/>
          <a:srcRect/>
          <a:stretch>
            <a:fillRect/>
          </a:stretch>
        </p:blipFill>
        <p:spPr>
          <a:xfrm>
            <a:off x="1375638" y="4514219"/>
            <a:ext cx="1556730" cy="1123781"/>
          </a:xfrm>
          <a:prstGeom prst="rect">
            <a:avLst/>
          </a:prstGeom>
          <a:noFill/>
          <a:ln>
            <a:noFill/>
          </a:ln>
        </p:spPr>
      </p:pic>
      <p:sp>
        <p:nvSpPr>
          <p:cNvPr id="98" name="Google Shape;98;p2"/>
          <p:cNvSpPr txBox="1"/>
          <p:nvPr/>
        </p:nvSpPr>
        <p:spPr>
          <a:xfrm>
            <a:off x="1541645" y="5035165"/>
            <a:ext cx="4953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0</a:t>
            </a:r>
            <a:r>
              <a:rPr lang="en-US" sz="1800">
                <a:solidFill>
                  <a:schemeClr val="lt1"/>
                </a:solidFill>
              </a:rPr>
              <a:t>3</a:t>
            </a: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9" name="Google Shape;99;p2"/>
          <p:cNvSpPr txBox="1"/>
          <p:nvPr/>
        </p:nvSpPr>
        <p:spPr>
          <a:xfrm>
            <a:off x="2450575" y="4660650"/>
            <a:ext cx="4648500" cy="608400"/>
          </a:xfrm>
          <a:prstGeom prst="rect">
            <a:avLst/>
          </a:prstGeom>
          <a:noFill/>
          <a:ln>
            <a:noFill/>
          </a:ln>
        </p:spPr>
        <p:txBody>
          <a:bodyPr spcFirstLastPara="1" wrap="square" lIns="91425" tIns="45700" rIns="91425" bIns="45700" anchor="b" anchorCtr="0">
            <a:noAutofit/>
          </a:bodyPr>
          <a:lstStyle/>
          <a:p>
            <a:pPr marL="0" lvl="0" indent="0" algn="l" rtl="0">
              <a:lnSpc>
                <a:spcPct val="115000"/>
              </a:lnSpc>
              <a:spcBef>
                <a:spcPts val="0"/>
              </a:spcBef>
              <a:spcAft>
                <a:spcPts val="0"/>
              </a:spcAft>
              <a:buClr>
                <a:schemeClr val="dk1"/>
              </a:buClr>
              <a:buSzPts val="1100"/>
              <a:buFont typeface="Arial" panose="020B0604020202020204"/>
              <a:buNone/>
            </a:pPr>
            <a:endParaRPr sz="13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&amp; Research Model</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00" name="Google Shape;100;p2"/>
          <p:cNvPicPr preferRelativeResize="0"/>
          <p:nvPr/>
        </p:nvPicPr>
        <p:blipFill rotWithShape="1">
          <a:blip r:embed="rId1"/>
          <a:srcRect/>
          <a:stretch>
            <a:fillRect/>
          </a:stretch>
        </p:blipFill>
        <p:spPr>
          <a:xfrm>
            <a:off x="6513958" y="4438019"/>
            <a:ext cx="1556730" cy="1123781"/>
          </a:xfrm>
          <a:prstGeom prst="rect">
            <a:avLst/>
          </a:prstGeom>
          <a:noFill/>
          <a:ln>
            <a:noFill/>
          </a:ln>
        </p:spPr>
      </p:pic>
      <p:sp>
        <p:nvSpPr>
          <p:cNvPr id="101" name="Google Shape;101;p2"/>
          <p:cNvSpPr txBox="1"/>
          <p:nvPr/>
        </p:nvSpPr>
        <p:spPr>
          <a:xfrm>
            <a:off x="6679965" y="4958965"/>
            <a:ext cx="4953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0</a:t>
            </a:r>
            <a:r>
              <a:rPr lang="en-US" sz="1800">
                <a:solidFill>
                  <a:schemeClr val="lt1"/>
                </a:solidFill>
              </a:rPr>
              <a:t>6</a:t>
            </a: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2" name="Google Shape;102;p2"/>
          <p:cNvSpPr txBox="1"/>
          <p:nvPr/>
        </p:nvSpPr>
        <p:spPr>
          <a:xfrm>
            <a:off x="7861451" y="4619507"/>
            <a:ext cx="2373600" cy="608400"/>
          </a:xfrm>
          <a:prstGeom prst="rect">
            <a:avLst/>
          </a:prstGeom>
          <a:noFill/>
          <a:ln>
            <a:noFill/>
          </a:ln>
        </p:spPr>
        <p:txBody>
          <a:bodyPr spcFirstLastPara="1" wrap="square" lIns="91425" tIns="45700" rIns="91425" bIns="45700" anchor="b" anchorCtr="0">
            <a:normAutofit/>
          </a:bodyPr>
          <a:lstStyle/>
          <a:p>
            <a:pPr marL="0" marR="0" lvl="0" indent="0" algn="ctr"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Conclusion</a:t>
            </a: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sp>
        <p:nvSpPr>
          <p:cNvPr id="107" name="Google Shape;107;p12"/>
          <p:cNvSpPr txBox="1"/>
          <p:nvPr>
            <p:ph type="body" idx="2"/>
          </p:nvPr>
        </p:nvSpPr>
        <p:spPr>
          <a:xfrm>
            <a:off x="3308350" y="2077183"/>
            <a:ext cx="5575200" cy="970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4800"/>
              <a:buFont typeface="Arial" panose="020B0604020202020204"/>
              <a:buNone/>
            </a:pPr>
            <a:r>
              <a:rPr lang="en-US" sz="5300" b="1">
                <a:solidFill>
                  <a:srgbClr val="262626"/>
                </a:solidFill>
                <a:latin typeface="Times New Roman" panose="02020603050405020304"/>
                <a:ea typeface="Times New Roman" panose="02020603050405020304"/>
                <a:cs typeface="Times New Roman" panose="02020603050405020304"/>
                <a:sym typeface="Times New Roman" panose="02020603050405020304"/>
              </a:rPr>
              <a:t>01    Introduction</a:t>
            </a:r>
            <a:endParaRPr sz="5300"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08" name="Google Shape;108;p12"/>
          <p:cNvCxnSpPr/>
          <p:nvPr/>
        </p:nvCxnSpPr>
        <p:spPr>
          <a:xfrm>
            <a:off x="6095988" y="2969650"/>
            <a:ext cx="1305000" cy="0"/>
          </a:xfrm>
          <a:prstGeom prst="straightConnector1">
            <a:avLst/>
          </a:prstGeom>
          <a:noFill/>
          <a:ln w="28575" cap="flat" cmpd="sng">
            <a:solidFill>
              <a:schemeClr val="accent1"/>
            </a:solidFill>
            <a:prstDash val="solid"/>
            <a:miter lim="80000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2" name="Shape 112"/>
        <p:cNvGrpSpPr/>
        <p:nvPr/>
      </p:nvGrpSpPr>
      <p:grpSpPr>
        <a:xfrm>
          <a:off x="0" y="0"/>
          <a:ext cx="0" cy="0"/>
          <a:chOff x="0" y="0"/>
          <a:chExt cx="0" cy="0"/>
        </a:xfrm>
      </p:grpSpPr>
      <p:sp>
        <p:nvSpPr>
          <p:cNvPr id="113" name="Google Shape;113;p7"/>
          <p:cNvSpPr txBox="1"/>
          <p:nvPr/>
        </p:nvSpPr>
        <p:spPr>
          <a:xfrm>
            <a:off x="1532602" y="314665"/>
            <a:ext cx="7391700" cy="6018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None/>
            </a:pPr>
            <a:r>
              <a:rPr lang="en-US" sz="3700" b="1">
                <a:solidFill>
                  <a:srgbClr val="262626"/>
                </a:solidFill>
                <a:latin typeface="Times New Roman" panose="02020603050405020304"/>
                <a:ea typeface="Times New Roman" panose="02020603050405020304"/>
                <a:cs typeface="Times New Roman" panose="02020603050405020304"/>
                <a:sym typeface="Times New Roman" panose="02020603050405020304"/>
              </a:rPr>
              <a:t>Introduction</a:t>
            </a:r>
            <a:endParaRPr sz="3700" b="1" i="0" u="none" strike="noStrike" cap="none">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14" name="Google Shape;114;p7"/>
          <p:cNvPicPr preferRelativeResize="0"/>
          <p:nvPr/>
        </p:nvPicPr>
        <p:blipFill rotWithShape="1">
          <a:blip r:embed="rId1"/>
          <a:srcRect l="36208" t="1589" r="45448" b="80164"/>
          <a:stretch>
            <a:fillRect/>
          </a:stretch>
        </p:blipFill>
        <p:spPr>
          <a:xfrm>
            <a:off x="448992" y="1634703"/>
            <a:ext cx="3434534" cy="3416270"/>
          </a:xfrm>
          <a:prstGeom prst="rect">
            <a:avLst/>
          </a:prstGeom>
          <a:noFill/>
          <a:ln>
            <a:noFill/>
          </a:ln>
        </p:spPr>
      </p:pic>
      <p:pic>
        <p:nvPicPr>
          <p:cNvPr id="115" name="Google Shape;115;p7"/>
          <p:cNvPicPr preferRelativeResize="0"/>
          <p:nvPr/>
        </p:nvPicPr>
        <p:blipFill rotWithShape="1">
          <a:blip r:embed="rId2"/>
          <a:srcRect l="14494" r="14487"/>
          <a:stretch>
            <a:fillRect/>
          </a:stretch>
        </p:blipFill>
        <p:spPr>
          <a:xfrm>
            <a:off x="1153886" y="2579912"/>
            <a:ext cx="1937700" cy="1937700"/>
          </a:xfrm>
          <a:prstGeom prst="ellipse">
            <a:avLst/>
          </a:prstGeom>
          <a:noFill/>
          <a:ln>
            <a:noFill/>
          </a:ln>
        </p:spPr>
      </p:pic>
      <p:grpSp>
        <p:nvGrpSpPr>
          <p:cNvPr id="116" name="Google Shape;116;p7"/>
          <p:cNvGrpSpPr/>
          <p:nvPr/>
        </p:nvGrpSpPr>
        <p:grpSpPr>
          <a:xfrm>
            <a:off x="4900105" y="839083"/>
            <a:ext cx="7029786" cy="1652295"/>
            <a:chOff x="1350656" y="5416358"/>
            <a:chExt cx="7783200" cy="967499"/>
          </a:xfrm>
        </p:grpSpPr>
        <p:sp>
          <p:nvSpPr>
            <p:cNvPr id="117" name="Google Shape;117;p7"/>
            <p:cNvSpPr txBox="1"/>
            <p:nvPr/>
          </p:nvSpPr>
          <p:spPr>
            <a:xfrm>
              <a:off x="1350659" y="5416358"/>
              <a:ext cx="3597300" cy="372600"/>
            </a:xfrm>
            <a:prstGeom prst="rect">
              <a:avLst/>
            </a:prstGeom>
            <a:noFill/>
            <a:ln>
              <a:noFill/>
            </a:ln>
          </p:spPr>
          <p:txBody>
            <a:bodyPr spcFirstLastPara="1" wrap="square" lIns="91425" tIns="45700" rIns="91425" bIns="45700" anchor="b" anchorCtr="0">
              <a:noAutofit/>
            </a:bodyPr>
            <a:lstStyle/>
            <a:p>
              <a:pPr marL="0" marR="0" lvl="0" indent="0" algn="just" rtl="0">
                <a:lnSpc>
                  <a:spcPct val="115000"/>
                </a:lnSpc>
                <a:spcBef>
                  <a:spcPts val="0"/>
                </a:spcBef>
                <a:spcAft>
                  <a:spcPts val="0"/>
                </a:spcAft>
                <a:buNone/>
              </a:pPr>
              <a:r>
                <a:rPr lang="en-US" sz="2300" b="1">
                  <a:solidFill>
                    <a:srgbClr val="262626"/>
                  </a:solidFill>
                  <a:latin typeface="Calibri" panose="020F0502020204030204"/>
                  <a:ea typeface="Calibri" panose="020F0502020204030204"/>
                  <a:cs typeface="Calibri" panose="020F0502020204030204"/>
                  <a:sym typeface="Calibri" panose="020F0502020204030204"/>
                </a:rPr>
                <a:t>Why Lipsticks?</a:t>
              </a:r>
              <a:endParaRPr sz="2300" b="1" u="non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118" name="Google Shape;118;p7"/>
            <p:cNvSpPr txBox="1"/>
            <p:nvPr/>
          </p:nvSpPr>
          <p:spPr>
            <a:xfrm>
              <a:off x="1350656" y="5782057"/>
              <a:ext cx="7783200" cy="601800"/>
            </a:xfrm>
            <a:prstGeom prst="rect">
              <a:avLst/>
            </a:prstGeom>
            <a:noFill/>
            <a:ln>
              <a:noFill/>
            </a:ln>
          </p:spPr>
          <p:txBody>
            <a:bodyPr spcFirstLastPara="1" wrap="square" lIns="90000" tIns="46800" rIns="90000" bIns="46800" anchor="t" anchorCtr="0">
              <a:noAutofit/>
            </a:bodyPr>
            <a:lstStyle/>
            <a:p>
              <a:pPr marL="0" marR="0" lvl="0" indent="0" algn="just" rtl="0">
                <a:lnSpc>
                  <a:spcPct val="115000"/>
                </a:lnSpc>
                <a:spcBef>
                  <a:spcPts val="0"/>
                </a:spcBef>
                <a:spcAft>
                  <a:spcPts val="0"/>
                </a:spcAft>
                <a:buNone/>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As a kind of "cheap luxury goods", lipsticks maintain high sales in the both periods of economic booms and busts.</a:t>
              </a:r>
              <a:endParaRPr sz="190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pic>
        <p:nvPicPr>
          <p:cNvPr id="119" name="Google Shape;119;p7"/>
          <p:cNvPicPr preferRelativeResize="0"/>
          <p:nvPr/>
        </p:nvPicPr>
        <p:blipFill rotWithShape="1">
          <a:blip r:embed="rId3"/>
          <a:srcRect/>
          <a:stretch>
            <a:fillRect/>
          </a:stretch>
        </p:blipFill>
        <p:spPr>
          <a:xfrm>
            <a:off x="4238902" y="1063210"/>
            <a:ext cx="661208" cy="408438"/>
          </a:xfrm>
          <a:prstGeom prst="rect">
            <a:avLst/>
          </a:prstGeom>
          <a:noFill/>
          <a:ln>
            <a:noFill/>
          </a:ln>
        </p:spPr>
      </p:pic>
      <p:grpSp>
        <p:nvGrpSpPr>
          <p:cNvPr id="120" name="Google Shape;120;p7"/>
          <p:cNvGrpSpPr/>
          <p:nvPr/>
        </p:nvGrpSpPr>
        <p:grpSpPr>
          <a:xfrm>
            <a:off x="4900151" y="2335286"/>
            <a:ext cx="7030109" cy="2334864"/>
            <a:chOff x="1350588" y="5416361"/>
            <a:chExt cx="5773269" cy="1165800"/>
          </a:xfrm>
        </p:grpSpPr>
        <p:sp>
          <p:nvSpPr>
            <p:cNvPr id="121" name="Google Shape;121;p7"/>
            <p:cNvSpPr txBox="1"/>
            <p:nvPr/>
          </p:nvSpPr>
          <p:spPr>
            <a:xfrm>
              <a:off x="1350588" y="5416361"/>
              <a:ext cx="4690500" cy="372600"/>
            </a:xfrm>
            <a:prstGeom prst="rect">
              <a:avLst/>
            </a:prstGeom>
            <a:noFill/>
            <a:ln>
              <a:noFill/>
            </a:ln>
          </p:spPr>
          <p:txBody>
            <a:bodyPr spcFirstLastPara="1" wrap="square" lIns="91425" tIns="45700" rIns="91425" bIns="45700" anchor="b" anchorCtr="0">
              <a:noAutofit/>
            </a:bodyPr>
            <a:lstStyle/>
            <a:p>
              <a:pPr marL="0" marR="0" lvl="0" indent="0" algn="l" rtl="0">
                <a:lnSpc>
                  <a:spcPct val="115000"/>
                </a:lnSpc>
                <a:spcBef>
                  <a:spcPts val="0"/>
                </a:spcBef>
                <a:spcAft>
                  <a:spcPts val="0"/>
                </a:spcAft>
                <a:buNone/>
              </a:pPr>
              <a:r>
                <a:rPr lang="en-US" sz="2300" b="1">
                  <a:solidFill>
                    <a:srgbClr val="262626"/>
                  </a:solidFill>
                  <a:latin typeface="Calibri" panose="020F0502020204030204"/>
                  <a:ea typeface="Calibri" panose="020F0502020204030204"/>
                  <a:cs typeface="Calibri" panose="020F0502020204030204"/>
                  <a:sym typeface="Calibri" panose="020F0502020204030204"/>
                </a:rPr>
                <a:t>What’s the Problem?</a:t>
              </a:r>
              <a:endParaRPr sz="2300" b="1" u="non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122" name="Google Shape;122;p7"/>
            <p:cNvSpPr txBox="1"/>
            <p:nvPr/>
          </p:nvSpPr>
          <p:spPr>
            <a:xfrm>
              <a:off x="1350656" y="5782061"/>
              <a:ext cx="5773200" cy="800100"/>
            </a:xfrm>
            <a:prstGeom prst="rect">
              <a:avLst/>
            </a:prstGeom>
            <a:noFill/>
            <a:ln>
              <a:noFill/>
            </a:ln>
          </p:spPr>
          <p:txBody>
            <a:bodyPr spcFirstLastPara="1" wrap="square" lIns="90000" tIns="46800" rIns="90000" bIns="46800" anchor="t" anchorCtr="0">
              <a:noAutofit/>
            </a:bodyPr>
            <a:lstStyle/>
            <a:p>
              <a:pPr marL="457200" marR="0" lvl="0" indent="-349250" algn="just" rtl="0">
                <a:lnSpc>
                  <a:spcPct val="115000"/>
                </a:lnSpc>
                <a:spcBef>
                  <a:spcPts val="0"/>
                </a:spcBef>
                <a:spcAft>
                  <a:spcPts val="0"/>
                </a:spcAft>
                <a:buClr>
                  <a:schemeClr val="dk1"/>
                </a:buClr>
                <a:buSzPts val="1900"/>
                <a:buFont typeface="Times New Roman" panose="02020603050405020304"/>
                <a:buChar char="●"/>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Homogenization of the lipsticks.</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9250" algn="just" rtl="0">
                <a:lnSpc>
                  <a:spcPct val="115000"/>
                </a:lnSpc>
                <a:spcBef>
                  <a:spcPts val="0"/>
                </a:spcBef>
                <a:spcAft>
                  <a:spcPts val="0"/>
                </a:spcAft>
                <a:buClr>
                  <a:schemeClr val="dk1"/>
                </a:buClr>
                <a:buSzPts val="1900"/>
                <a:buFont typeface="Times New Roman" panose="02020603050405020304"/>
                <a:buChar char="●"/>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General nomenclature of  "brand + series + product".</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9250" algn="just" rtl="0">
                <a:lnSpc>
                  <a:spcPct val="115000"/>
                </a:lnSpc>
                <a:spcBef>
                  <a:spcPts val="0"/>
                </a:spcBef>
                <a:spcAft>
                  <a:spcPts val="0"/>
                </a:spcAft>
                <a:buClr>
                  <a:schemeClr val="dk1"/>
                </a:buClr>
                <a:buSzPts val="1900"/>
                <a:buFont typeface="Times New Roman" panose="02020603050405020304"/>
                <a:buChar char="●"/>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Lipstick shade becomes the main factor in stimulating the purchasing intentions of consumers.</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15000"/>
                </a:lnSpc>
                <a:spcBef>
                  <a:spcPts val="0"/>
                </a:spcBef>
                <a:spcAft>
                  <a:spcPts val="0"/>
                </a:spcAft>
                <a:buNone/>
              </a:pP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pic>
        <p:nvPicPr>
          <p:cNvPr id="123" name="Google Shape;123;p7"/>
          <p:cNvPicPr preferRelativeResize="0"/>
          <p:nvPr/>
        </p:nvPicPr>
        <p:blipFill rotWithShape="1">
          <a:blip r:embed="rId3"/>
          <a:srcRect/>
          <a:stretch>
            <a:fillRect/>
          </a:stretch>
        </p:blipFill>
        <p:spPr>
          <a:xfrm>
            <a:off x="4238902" y="2620350"/>
            <a:ext cx="661208" cy="408438"/>
          </a:xfrm>
          <a:prstGeom prst="rect">
            <a:avLst/>
          </a:prstGeom>
          <a:noFill/>
          <a:ln>
            <a:noFill/>
          </a:ln>
        </p:spPr>
      </p:pic>
      <p:grpSp>
        <p:nvGrpSpPr>
          <p:cNvPr id="124" name="Google Shape;124;p7"/>
          <p:cNvGrpSpPr/>
          <p:nvPr/>
        </p:nvGrpSpPr>
        <p:grpSpPr>
          <a:xfrm>
            <a:off x="4976351" y="4468886"/>
            <a:ext cx="7030109" cy="2334864"/>
            <a:chOff x="1350588" y="5416361"/>
            <a:chExt cx="5773269" cy="1165800"/>
          </a:xfrm>
        </p:grpSpPr>
        <p:sp>
          <p:nvSpPr>
            <p:cNvPr id="125" name="Google Shape;125;p7"/>
            <p:cNvSpPr txBox="1"/>
            <p:nvPr/>
          </p:nvSpPr>
          <p:spPr>
            <a:xfrm>
              <a:off x="1350588" y="5416361"/>
              <a:ext cx="4690500" cy="372600"/>
            </a:xfrm>
            <a:prstGeom prst="rect">
              <a:avLst/>
            </a:prstGeom>
            <a:noFill/>
            <a:ln>
              <a:noFill/>
            </a:ln>
          </p:spPr>
          <p:txBody>
            <a:bodyPr spcFirstLastPara="1" wrap="square" lIns="91425" tIns="45700" rIns="91425" bIns="45700" anchor="b" anchorCtr="0">
              <a:noAutofit/>
            </a:bodyPr>
            <a:lstStyle/>
            <a:p>
              <a:pPr marL="0" marR="0" lvl="0" indent="0" algn="l" rtl="0">
                <a:lnSpc>
                  <a:spcPct val="115000"/>
                </a:lnSpc>
                <a:spcBef>
                  <a:spcPts val="0"/>
                </a:spcBef>
                <a:spcAft>
                  <a:spcPts val="0"/>
                </a:spcAft>
                <a:buNone/>
              </a:pPr>
              <a:r>
                <a:rPr lang="en-US" sz="2300" b="1">
                  <a:solidFill>
                    <a:srgbClr val="262626"/>
                  </a:solidFill>
                  <a:latin typeface="Calibri" panose="020F0502020204030204"/>
                  <a:ea typeface="Calibri" panose="020F0502020204030204"/>
                  <a:cs typeface="Calibri" panose="020F0502020204030204"/>
                  <a:sym typeface="Calibri" panose="020F0502020204030204"/>
                </a:rPr>
                <a:t>How’s the present situation?</a:t>
              </a:r>
              <a:endParaRPr sz="2300" b="1" u="non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126" name="Google Shape;126;p7"/>
            <p:cNvSpPr txBox="1"/>
            <p:nvPr/>
          </p:nvSpPr>
          <p:spPr>
            <a:xfrm>
              <a:off x="1350656" y="5782061"/>
              <a:ext cx="5773200" cy="800100"/>
            </a:xfrm>
            <a:prstGeom prst="rect">
              <a:avLst/>
            </a:prstGeom>
            <a:noFill/>
            <a:ln>
              <a:noFill/>
            </a:ln>
          </p:spPr>
          <p:txBody>
            <a:bodyPr spcFirstLastPara="1" wrap="square" lIns="90000" tIns="46800" rIns="90000" bIns="46800" anchor="t" anchorCtr="0">
              <a:noAutofit/>
            </a:bodyPr>
            <a:lstStyle/>
            <a:p>
              <a:pPr marL="457200" marR="0" lvl="0" indent="-349250" algn="just" rtl="0">
                <a:lnSpc>
                  <a:spcPct val="115000"/>
                </a:lnSpc>
                <a:spcBef>
                  <a:spcPts val="0"/>
                </a:spcBef>
                <a:spcAft>
                  <a:spcPts val="0"/>
                </a:spcAft>
                <a:buClr>
                  <a:schemeClr val="dk1"/>
                </a:buClr>
                <a:buSzPts val="1900"/>
                <a:buFont typeface="Times New Roman" panose="02020603050405020304"/>
                <a:buChar char="●"/>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Refinement of the lipsticks.                           </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9250" algn="just" rtl="0">
                <a:lnSpc>
                  <a:spcPct val="115000"/>
                </a:lnSpc>
                <a:spcBef>
                  <a:spcPts val="0"/>
                </a:spcBef>
                <a:spcAft>
                  <a:spcPts val="0"/>
                </a:spcAft>
                <a:buClr>
                  <a:schemeClr val="dk1"/>
                </a:buClr>
                <a:buSzPts val="1900"/>
                <a:buFont typeface="Times New Roman" panose="02020603050405020304"/>
                <a:buChar char="●"/>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New nomenclature of  "the celebrity nickname".</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49250" algn="just" rtl="0">
                <a:lnSpc>
                  <a:spcPct val="115000"/>
                </a:lnSpc>
                <a:spcBef>
                  <a:spcPts val="0"/>
                </a:spcBef>
                <a:spcAft>
                  <a:spcPts val="0"/>
                </a:spcAft>
                <a:buClr>
                  <a:schemeClr val="dk1"/>
                </a:buClr>
                <a:buSzPts val="1900"/>
                <a:buFont typeface="Times New Roman" panose="02020603050405020304"/>
                <a:buChar char="●"/>
              </a:pP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C</a:t>
              </a:r>
              <a:r>
                <a:rPr lang="en-US" sz="1900">
                  <a:solidFill>
                    <a:schemeClr val="dk1"/>
                  </a:solidFill>
                  <a:latin typeface="Times New Roman" panose="02020603050405020304"/>
                  <a:ea typeface="Times New Roman" panose="02020603050405020304"/>
                  <a:cs typeface="Times New Roman" panose="02020603050405020304"/>
                  <a:sym typeface="Times New Roman" panose="02020603050405020304"/>
                </a:rPr>
                <a:t>elebrity appeal helps consumers express their identity, social status and  emphasize the uniqueness.</a:t>
              </a: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15000"/>
                </a:lnSpc>
                <a:spcBef>
                  <a:spcPts val="0"/>
                </a:spcBef>
                <a:spcAft>
                  <a:spcPts val="0"/>
                </a:spcAft>
                <a:buNone/>
              </a:pPr>
              <a:endParaRPr sz="19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pic>
        <p:nvPicPr>
          <p:cNvPr id="127" name="Google Shape;127;p7"/>
          <p:cNvPicPr preferRelativeResize="0"/>
          <p:nvPr/>
        </p:nvPicPr>
        <p:blipFill rotWithShape="1">
          <a:blip r:embed="rId3"/>
          <a:srcRect/>
          <a:stretch>
            <a:fillRect/>
          </a:stretch>
        </p:blipFill>
        <p:spPr>
          <a:xfrm>
            <a:off x="4315102" y="4753950"/>
            <a:ext cx="661208" cy="4084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g26ecb34b8fa_7_11"/>
          <p:cNvSpPr txBox="1"/>
          <p:nvPr>
            <p:ph type="body" idx="2"/>
          </p:nvPr>
        </p:nvSpPr>
        <p:spPr>
          <a:xfrm>
            <a:off x="2069850" y="2077175"/>
            <a:ext cx="8052300" cy="970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4800"/>
              <a:buFont typeface="Arial" panose="020B0604020202020204"/>
              <a:buNone/>
            </a:pPr>
            <a:r>
              <a:rPr lang="en-US" sz="5300" b="1">
                <a:solidFill>
                  <a:srgbClr val="262626"/>
                </a:solidFill>
                <a:latin typeface="Times New Roman" panose="02020603050405020304"/>
                <a:ea typeface="Times New Roman" panose="02020603050405020304"/>
                <a:cs typeface="Times New Roman" panose="02020603050405020304"/>
                <a:sym typeface="Times New Roman" panose="02020603050405020304"/>
              </a:rPr>
              <a:t>02    Literature Review</a:t>
            </a:r>
            <a:endParaRPr sz="5300"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33" name="Google Shape;133;g26ecb34b8fa_7_11"/>
          <p:cNvCxnSpPr/>
          <p:nvPr/>
        </p:nvCxnSpPr>
        <p:spPr>
          <a:xfrm>
            <a:off x="6095988" y="2969650"/>
            <a:ext cx="1305000" cy="0"/>
          </a:xfrm>
          <a:prstGeom prst="straightConnector1">
            <a:avLst/>
          </a:prstGeom>
          <a:noFill/>
          <a:ln w="28575" cap="flat" cmpd="sng">
            <a:solidFill>
              <a:schemeClr val="accent1"/>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15"/>
          <p:cNvSpPr txBox="1"/>
          <p:nvPr/>
        </p:nvSpPr>
        <p:spPr>
          <a:xfrm>
            <a:off x="1509852" y="329440"/>
            <a:ext cx="7391700" cy="6018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None/>
            </a:pPr>
            <a:r>
              <a:rPr lang="en-US" sz="3700" b="1">
                <a:solidFill>
                  <a:srgbClr val="262626"/>
                </a:solidFill>
                <a:latin typeface="Times New Roman" panose="02020603050405020304"/>
                <a:ea typeface="Times New Roman" panose="02020603050405020304"/>
                <a:cs typeface="Times New Roman" panose="02020603050405020304"/>
                <a:sym typeface="Times New Roman" panose="02020603050405020304"/>
              </a:rPr>
              <a:t>Literature Review</a:t>
            </a:r>
            <a:endParaRPr sz="3700"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15"/>
          <p:cNvSpPr/>
          <p:nvPr/>
        </p:nvSpPr>
        <p:spPr>
          <a:xfrm>
            <a:off x="2913475" y="2729025"/>
            <a:ext cx="5719850" cy="1867346"/>
          </a:xfrm>
          <a:custGeom>
            <a:avLst/>
            <a:gdLst/>
            <a:ahLst/>
            <a:cxnLst/>
            <a:rect l="l" t="t" r="r" b="b"/>
            <a:pathLst>
              <a:path w="5141438" h="1208638" extrusionOk="0">
                <a:moveTo>
                  <a:pt x="5141438" y="0"/>
                </a:moveTo>
                <a:cubicBezTo>
                  <a:pt x="4741027" y="708082"/>
                  <a:pt x="3740838" y="1208638"/>
                  <a:pt x="2570719" y="1208638"/>
                </a:cubicBezTo>
                <a:cubicBezTo>
                  <a:pt x="1400600" y="1208638"/>
                  <a:pt x="400411" y="708082"/>
                  <a:pt x="0" y="0"/>
                </a:cubicBezTo>
              </a:path>
            </a:pathLst>
          </a:custGeom>
          <a:noFill/>
          <a:ln w="9525"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80808"/>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40" name="Google Shape;140;p15"/>
          <p:cNvCxnSpPr/>
          <p:nvPr/>
        </p:nvCxnSpPr>
        <p:spPr>
          <a:xfrm>
            <a:off x="5948548" y="2824646"/>
            <a:ext cx="3600" cy="1807500"/>
          </a:xfrm>
          <a:prstGeom prst="straightConnector1">
            <a:avLst/>
          </a:prstGeom>
          <a:noFill/>
          <a:ln w="9525" cap="flat" cmpd="sng">
            <a:solidFill>
              <a:srgbClr val="D8D8D8"/>
            </a:solidFill>
            <a:prstDash val="solid"/>
            <a:miter lim="800000"/>
            <a:headEnd type="none" w="sm" len="sm"/>
            <a:tailEnd type="none" w="sm" len="sm"/>
          </a:ln>
        </p:spPr>
      </p:cxnSp>
      <p:sp>
        <p:nvSpPr>
          <p:cNvPr id="141" name="Google Shape;141;p15"/>
          <p:cNvSpPr/>
          <p:nvPr/>
        </p:nvSpPr>
        <p:spPr>
          <a:xfrm>
            <a:off x="4902011" y="1181102"/>
            <a:ext cx="2084400" cy="208440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564B4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2" name="Google Shape;142;p15"/>
          <p:cNvSpPr/>
          <p:nvPr/>
        </p:nvSpPr>
        <p:spPr>
          <a:xfrm>
            <a:off x="2833875" y="2173875"/>
            <a:ext cx="1237500" cy="12087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56777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3" name="Google Shape;143;p15"/>
          <p:cNvSpPr/>
          <p:nvPr/>
        </p:nvSpPr>
        <p:spPr>
          <a:xfrm>
            <a:off x="4187325" y="3816125"/>
            <a:ext cx="1237500" cy="12087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80808"/>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4" name="Google Shape;144;p15"/>
          <p:cNvSpPr/>
          <p:nvPr/>
        </p:nvSpPr>
        <p:spPr>
          <a:xfrm>
            <a:off x="6700075" y="3816125"/>
            <a:ext cx="1237500" cy="12087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80808"/>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5" name="Google Shape;145;p15"/>
          <p:cNvSpPr/>
          <p:nvPr/>
        </p:nvSpPr>
        <p:spPr>
          <a:xfrm>
            <a:off x="8078825" y="2112150"/>
            <a:ext cx="1237500" cy="12087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56777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46" name="Google Shape;146;p15"/>
          <p:cNvPicPr preferRelativeResize="0"/>
          <p:nvPr/>
        </p:nvPicPr>
        <p:blipFill rotWithShape="1">
          <a:blip r:embed="rId1"/>
          <a:srcRect l="16692" r="16693"/>
          <a:stretch>
            <a:fillRect/>
          </a:stretch>
        </p:blipFill>
        <p:spPr>
          <a:xfrm>
            <a:off x="5019128" y="1289003"/>
            <a:ext cx="1866300" cy="1866300"/>
          </a:xfrm>
          <a:prstGeom prst="ellipse">
            <a:avLst/>
          </a:prstGeom>
          <a:noFill/>
          <a:ln>
            <a:noFill/>
          </a:ln>
        </p:spPr>
      </p:pic>
      <p:sp>
        <p:nvSpPr>
          <p:cNvPr id="147" name="Google Shape;147;p15"/>
          <p:cNvSpPr txBox="1"/>
          <p:nvPr/>
        </p:nvSpPr>
        <p:spPr>
          <a:xfrm>
            <a:off x="8144462" y="2641474"/>
            <a:ext cx="1106100" cy="3855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1100"/>
              <a:buFont typeface="Arial" panose="020B0604020202020204"/>
              <a:buNone/>
            </a:pPr>
            <a:r>
              <a:rPr lang="en-US" sz="1500" b="1">
                <a:solidFill>
                  <a:schemeClr val="lt1"/>
                </a:solidFill>
                <a:latin typeface="Times New Roman" panose="02020603050405020304"/>
                <a:ea typeface="Times New Roman" panose="02020603050405020304"/>
                <a:cs typeface="Times New Roman" panose="02020603050405020304"/>
                <a:sym typeface="Times New Roman" panose="02020603050405020304"/>
              </a:rPr>
              <a:t>Influence Regulation Theory</a:t>
            </a:r>
            <a:endParaRPr sz="15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8" name="Google Shape;148;p15"/>
          <p:cNvSpPr txBox="1"/>
          <p:nvPr/>
        </p:nvSpPr>
        <p:spPr>
          <a:xfrm>
            <a:off x="6700075" y="4596374"/>
            <a:ext cx="1237500" cy="3855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1100"/>
              <a:buFont typeface="Arial" panose="020B0604020202020204"/>
              <a:buNone/>
            </a:pPr>
            <a:r>
              <a:rPr lang="en-US" sz="1500" b="1">
                <a:solidFill>
                  <a:schemeClr val="lt1"/>
                </a:solidFill>
                <a:latin typeface="Times New Roman" panose="02020603050405020304"/>
                <a:ea typeface="Times New Roman" panose="02020603050405020304"/>
                <a:cs typeface="Times New Roman" panose="02020603050405020304"/>
                <a:sym typeface="Times New Roman" panose="02020603050405020304"/>
              </a:rPr>
              <a:t>Self-image theory</a:t>
            </a:r>
            <a:endParaRPr sz="1500">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15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15"/>
          <p:cNvSpPr txBox="1"/>
          <p:nvPr/>
        </p:nvSpPr>
        <p:spPr>
          <a:xfrm>
            <a:off x="4329230" y="4596376"/>
            <a:ext cx="1106100" cy="3855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605"/>
              <a:buFont typeface="Arial" panose="020B0604020202020204"/>
              <a:buNone/>
            </a:pPr>
            <a:r>
              <a:rPr lang="en-US" sz="1500" b="1">
                <a:solidFill>
                  <a:schemeClr val="lt1"/>
                </a:solidFill>
                <a:latin typeface="Calibri" panose="020F0502020204030204"/>
                <a:ea typeface="Calibri" panose="020F0502020204030204"/>
                <a:cs typeface="Calibri" panose="020F0502020204030204"/>
                <a:sym typeface="Calibri" panose="020F0502020204030204"/>
              </a:rPr>
              <a:t>Incongruity theory</a:t>
            </a:r>
            <a:endParaRPr sz="1500" b="1">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500" b="1">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50" name="Google Shape;150;p15"/>
          <p:cNvSpPr txBox="1"/>
          <p:nvPr/>
        </p:nvSpPr>
        <p:spPr>
          <a:xfrm>
            <a:off x="2899581" y="2641474"/>
            <a:ext cx="1106100" cy="3855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1500" b="1">
                <a:solidFill>
                  <a:schemeClr val="lt1"/>
                </a:solidFill>
                <a:latin typeface="Times New Roman" panose="02020603050405020304"/>
                <a:ea typeface="Times New Roman" panose="02020603050405020304"/>
                <a:cs typeface="Times New Roman" panose="02020603050405020304"/>
                <a:sym typeface="Times New Roman" panose="02020603050405020304"/>
              </a:rPr>
              <a:t>Color Name</a:t>
            </a:r>
            <a:endParaRPr sz="15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15"/>
          <p:cNvSpPr txBox="1"/>
          <p:nvPr/>
        </p:nvSpPr>
        <p:spPr>
          <a:xfrm>
            <a:off x="8901550" y="129150"/>
            <a:ext cx="3235500" cy="3109800"/>
          </a:xfrm>
          <a:prstGeom prst="rect">
            <a:avLst/>
          </a:prstGeom>
          <a:noFill/>
          <a:ln>
            <a:noFill/>
          </a:ln>
        </p:spPr>
        <p:txBody>
          <a:bodyPr spcFirstLastPara="1" wrap="square" lIns="90000" tIns="46800" rIns="90000" bIns="46800" anchor="t" anchorCtr="0">
            <a:noAutofit/>
          </a:bodyPr>
          <a:lstStyle/>
          <a:p>
            <a:pPr marL="457200" marR="0" lvl="0" indent="-323850" algn="just" rtl="0">
              <a:lnSpc>
                <a:spcPct val="115000"/>
              </a:lnSpc>
              <a:spcBef>
                <a:spcPts val="0"/>
              </a:spcBef>
              <a:spcAft>
                <a:spcPts val="0"/>
              </a:spcAft>
              <a:buClr>
                <a:schemeClr val="dk1"/>
              </a:buClr>
              <a:buSzPts val="1500"/>
              <a:buFont typeface="Calibri" panose="020F0502020204030204"/>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Andrade &amp; Cohen, 2007:</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People </a:t>
            </a:r>
            <a:r>
              <a:rPr lang="en-US" sz="1500">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desire to eliminate negative emotions and try to stay in happy situations when in sadness situation.</a:t>
            </a:r>
            <a:endParaRPr sz="1500">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marR="0" lvl="0" indent="-323850" algn="just" rtl="0">
              <a:lnSpc>
                <a:spcPct val="115000"/>
              </a:lnSpc>
              <a:spcBef>
                <a:spcPts val="0"/>
              </a:spcBef>
              <a:spcAft>
                <a:spcPts val="0"/>
              </a:spcAft>
              <a:buClr>
                <a:schemeClr val="dk1"/>
              </a:buClr>
              <a:buSzPts val="1500"/>
              <a:buFont typeface="Calibri" panose="020F0502020204030204"/>
              <a:buChar char="●"/>
            </a:pPr>
            <a:r>
              <a:rPr lang="en-US" sz="1500" b="1">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Forgas, 1995: </a:t>
            </a:r>
            <a:r>
              <a:rPr lang="en-US" sz="1500">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The difference between emotion and mood.</a:t>
            </a:r>
            <a:endParaRPr sz="1500">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marR="0" lvl="0" indent="-323850" algn="just" rtl="0">
              <a:lnSpc>
                <a:spcPct val="115000"/>
              </a:lnSpc>
              <a:spcBef>
                <a:spcPts val="0"/>
              </a:spcBef>
              <a:spcAft>
                <a:spcPts val="0"/>
              </a:spcAft>
              <a:buClr>
                <a:schemeClr val="dk1"/>
              </a:buClr>
              <a:buSzPts val="1500"/>
              <a:buFont typeface="Calibri" panose="020F0502020204030204"/>
              <a:buChar char="●"/>
            </a:pPr>
            <a:r>
              <a:rPr lang="en-US" sz="1500" b="1">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Lopez &amp; de Maya, 2012: </a:t>
            </a:r>
            <a:r>
              <a:rPr lang="en-US" sz="1500">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One's mood impacts on how he responds to the new stimulus.</a:t>
            </a:r>
            <a:endParaRPr sz="1500">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15000"/>
              </a:lnSpc>
              <a:spcBef>
                <a:spcPts val="0"/>
              </a:spcBef>
              <a:spcAft>
                <a:spcPts val="0"/>
              </a:spcAft>
              <a:buNone/>
            </a:pPr>
            <a:endParaRPr sz="1500">
              <a:solidFill>
                <a:schemeClr val="dk1"/>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15"/>
          <p:cNvSpPr txBox="1"/>
          <p:nvPr/>
        </p:nvSpPr>
        <p:spPr>
          <a:xfrm>
            <a:off x="7793900" y="4196950"/>
            <a:ext cx="4343100" cy="549300"/>
          </a:xfrm>
          <a:prstGeom prst="rect">
            <a:avLst/>
          </a:prstGeom>
          <a:noFill/>
          <a:ln>
            <a:noFill/>
          </a:ln>
        </p:spPr>
        <p:txBody>
          <a:bodyPr spcFirstLastPara="1" wrap="square" lIns="90000" tIns="46800" rIns="90000" bIns="46800" anchor="t" anchorCtr="0">
            <a:noAutofit/>
          </a:bodyPr>
          <a:lstStyle/>
          <a:p>
            <a:pPr marL="457200" marR="0" lvl="0" indent="-323850" algn="just" rtl="0">
              <a:lnSpc>
                <a:spcPct val="115000"/>
              </a:lnSpc>
              <a:spcBef>
                <a:spcPts val="0"/>
              </a:spcBef>
              <a:spcAft>
                <a:spcPts val="0"/>
              </a:spcAft>
              <a:buClr>
                <a:schemeClr val="dk1"/>
              </a:buClr>
              <a:buSzPts val="1500"/>
              <a:buFont typeface="Calibri" panose="020F0502020204030204"/>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Fein &amp; Spencer 1997：</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Self-image is a component of self-concept, it depicts details that can be objectively investigated by others and people learning about themselves through personal experience or internalizing the judgments of others.</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23850" algn="just" rtl="0">
              <a:lnSpc>
                <a:spcPct val="115000"/>
              </a:lnSpc>
              <a:spcBef>
                <a:spcPts val="0"/>
              </a:spcBef>
              <a:spcAft>
                <a:spcPts val="0"/>
              </a:spcAft>
              <a:buClr>
                <a:schemeClr val="dk1"/>
              </a:buClr>
              <a:buSzPts val="1500"/>
              <a:buFont typeface="Calibri" panose="020F0502020204030204"/>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Hosany &amp; Martin 2012:</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Consumers are more inclined to purchase commodities and services that reflect what they see in the mirror or that make them look even better in the mirror.</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15"/>
          <p:cNvSpPr txBox="1"/>
          <p:nvPr/>
        </p:nvSpPr>
        <p:spPr>
          <a:xfrm>
            <a:off x="-212675" y="1284825"/>
            <a:ext cx="3126300" cy="3109800"/>
          </a:xfrm>
          <a:prstGeom prst="rect">
            <a:avLst/>
          </a:prstGeom>
          <a:noFill/>
          <a:ln>
            <a:noFill/>
          </a:ln>
        </p:spPr>
        <p:txBody>
          <a:bodyPr spcFirstLastPara="1" wrap="square" lIns="90000" tIns="46800" rIns="90000" bIns="46800" anchor="t" anchorCtr="0">
            <a:noAutofit/>
          </a:bodyPr>
          <a:lstStyle/>
          <a:p>
            <a:pPr marL="457200" marR="0" lvl="0" indent="-323850" algn="just" rtl="0">
              <a:lnSpc>
                <a:spcPct val="115000"/>
              </a:lnSpc>
              <a:spcBef>
                <a:spcPts val="0"/>
              </a:spcBef>
              <a:spcAft>
                <a:spcPts val="0"/>
              </a:spcAft>
              <a:buClr>
                <a:schemeClr val="dk1"/>
              </a:buClr>
              <a:buSzPts val="1500"/>
              <a:buFont typeface="Calibri" panose="020F0502020204030204"/>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Miller &amp; Kahn, 2005：</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 Classified color names into four categories and confirmed the popularity of each naming style with two dimensions.</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323850" algn="just" rtl="0">
              <a:lnSpc>
                <a:spcPct val="115000"/>
              </a:lnSpc>
              <a:spcBef>
                <a:spcPts val="0"/>
              </a:spcBef>
              <a:spcAft>
                <a:spcPts val="0"/>
              </a:spcAft>
              <a:buClr>
                <a:schemeClr val="dk1"/>
              </a:buClr>
              <a:buSzPts val="1500"/>
              <a:buFont typeface="Times New Roman" panose="02020603050405020304"/>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Skorinko, Kemmer, Hebl &amp; Lane, 2006：</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Generic and fancy color names were used to uncover people's perception of color and its influence on decision-making. </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4" name="Google Shape;154;p15"/>
          <p:cNvSpPr txBox="1"/>
          <p:nvPr/>
        </p:nvSpPr>
        <p:spPr>
          <a:xfrm>
            <a:off x="2768400" y="5143900"/>
            <a:ext cx="3480000" cy="549300"/>
          </a:xfrm>
          <a:prstGeom prst="rect">
            <a:avLst/>
          </a:prstGeom>
          <a:noFill/>
          <a:ln>
            <a:noFill/>
          </a:ln>
        </p:spPr>
        <p:txBody>
          <a:bodyPr spcFirstLastPara="1" wrap="square" lIns="90000" tIns="46800" rIns="90000" bIns="46800" anchor="t" anchorCtr="0">
            <a:noAutofit/>
          </a:bodyPr>
          <a:lstStyle/>
          <a:p>
            <a:pPr marL="457200" marR="0" lvl="0" indent="-323850" algn="just" rtl="0">
              <a:lnSpc>
                <a:spcPct val="115000"/>
              </a:lnSpc>
              <a:spcBef>
                <a:spcPts val="0"/>
              </a:spcBef>
              <a:spcAft>
                <a:spcPts val="0"/>
              </a:spcAft>
              <a:buClr>
                <a:schemeClr val="dk1"/>
              </a:buClr>
              <a:buSzPts val="1500"/>
              <a:buChar char="●"/>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Mandler，1982：</a:t>
            </a:r>
            <a:r>
              <a:rPr lang="en-US" sz="1500">
                <a:solidFill>
                  <a:schemeClr val="dk1"/>
                </a:solidFill>
                <a:latin typeface="Times New Roman" panose="02020603050405020304"/>
                <a:ea typeface="Times New Roman" panose="02020603050405020304"/>
                <a:cs typeface="Times New Roman" panose="02020603050405020304"/>
                <a:sym typeface="Times New Roman" panose="02020603050405020304"/>
              </a:rPr>
              <a:t>The relationship between the degree of incongruity in the message and consumer’s attitude assessment appears to be performed in a nonlinear and Inverted-U shape manner. </a:t>
            </a:r>
            <a:endParaRPr sz="15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sp>
        <p:nvSpPr>
          <p:cNvPr id="159" name="Google Shape;159;g2cd2bbb7c26_1_0"/>
          <p:cNvSpPr txBox="1"/>
          <p:nvPr>
            <p:ph type="body" idx="2"/>
          </p:nvPr>
        </p:nvSpPr>
        <p:spPr>
          <a:xfrm>
            <a:off x="742800" y="2089450"/>
            <a:ext cx="10706400" cy="970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4800"/>
              <a:buFont typeface="Arial" panose="020B0604020202020204"/>
              <a:buNone/>
            </a:pPr>
            <a:r>
              <a:rPr lang="en-US" sz="5300" b="1">
                <a:solidFill>
                  <a:srgbClr val="262626"/>
                </a:solidFill>
                <a:latin typeface="Times New Roman" panose="02020603050405020304"/>
                <a:ea typeface="Times New Roman" panose="02020603050405020304"/>
                <a:cs typeface="Times New Roman" panose="02020603050405020304"/>
                <a:sym typeface="Times New Roman" panose="02020603050405020304"/>
              </a:rPr>
              <a:t>03 Hypothesis &amp; Research Model</a:t>
            </a:r>
            <a:endParaRPr sz="5300" b="1">
              <a:solidFill>
                <a:srgbClr val="262626"/>
              </a:solidFill>
              <a:latin typeface="Calibri" panose="020F0502020204030204"/>
              <a:ea typeface="Calibri" panose="020F0502020204030204"/>
              <a:cs typeface="Calibri" panose="020F0502020204030204"/>
              <a:sym typeface="Calibri" panose="020F0502020204030204"/>
            </a:endParaRPr>
          </a:p>
        </p:txBody>
      </p:sp>
      <p:cxnSp>
        <p:nvCxnSpPr>
          <p:cNvPr id="160" name="Google Shape;160;g2cd2bbb7c26_1_0"/>
          <p:cNvCxnSpPr/>
          <p:nvPr/>
        </p:nvCxnSpPr>
        <p:spPr>
          <a:xfrm>
            <a:off x="5172113" y="2969650"/>
            <a:ext cx="1305000" cy="0"/>
          </a:xfrm>
          <a:prstGeom prst="straightConnector1">
            <a:avLst/>
          </a:prstGeom>
          <a:noFill/>
          <a:ln w="28575" cap="flat" cmpd="sng">
            <a:solidFill>
              <a:schemeClr val="accent1"/>
            </a:solidFill>
            <a:prstDash val="solid"/>
            <a:miter lim="800000"/>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grpSp>
        <p:nvGrpSpPr>
          <p:cNvPr id="165" name="Google Shape;165;p8"/>
          <p:cNvGrpSpPr/>
          <p:nvPr/>
        </p:nvGrpSpPr>
        <p:grpSpPr>
          <a:xfrm>
            <a:off x="237477" y="234090"/>
            <a:ext cx="7391612" cy="768544"/>
            <a:chOff x="1303244" y="419225"/>
            <a:chExt cx="7391612" cy="768544"/>
          </a:xfrm>
        </p:grpSpPr>
        <p:sp>
          <p:nvSpPr>
            <p:cNvPr id="166" name="Google Shape;166;p8"/>
            <p:cNvSpPr txBox="1"/>
            <p:nvPr/>
          </p:nvSpPr>
          <p:spPr>
            <a:xfrm>
              <a:off x="1303244" y="419225"/>
              <a:ext cx="7391612" cy="601663"/>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rgbClr val="000000"/>
                </a:buClr>
                <a:buFont typeface="Arial" panose="020B0604020202020204"/>
                <a:buNone/>
              </a:pPr>
              <a:r>
                <a:rPr lang="en-US" sz="3200">
                  <a:solidFill>
                    <a:srgbClr val="262626"/>
                  </a:solidFill>
                  <a:latin typeface="Times New Roman" panose="02020603050405020304"/>
                  <a:ea typeface="Times New Roman" panose="02020603050405020304"/>
                  <a:cs typeface="Times New Roman" panose="02020603050405020304"/>
                  <a:sym typeface="Times New Roman" panose="02020603050405020304"/>
                </a:rPr>
                <a:t>Hypotheses and Research Model</a:t>
              </a:r>
              <a:endParaRPr sz="3200">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Google Shape;167;p8"/>
            <p:cNvSpPr/>
            <p:nvPr/>
          </p:nvSpPr>
          <p:spPr>
            <a:xfrm>
              <a:off x="1303244" y="926159"/>
              <a:ext cx="3374625"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grpSp>
      <p:grpSp>
        <p:nvGrpSpPr>
          <p:cNvPr id="168" name="Google Shape;168;p8"/>
          <p:cNvGrpSpPr/>
          <p:nvPr/>
        </p:nvGrpSpPr>
        <p:grpSpPr>
          <a:xfrm>
            <a:off x="7195799" y="1149738"/>
            <a:ext cx="3028017" cy="921603"/>
            <a:chOff x="689639" y="4840586"/>
            <a:chExt cx="4619400" cy="1135539"/>
          </a:xfrm>
        </p:grpSpPr>
        <p:sp>
          <p:nvSpPr>
            <p:cNvPr id="169" name="Google Shape;169;p8"/>
            <p:cNvSpPr txBox="1"/>
            <p:nvPr/>
          </p:nvSpPr>
          <p:spPr>
            <a:xfrm>
              <a:off x="689639" y="4840586"/>
              <a:ext cx="3772500" cy="372600"/>
            </a:xfrm>
            <a:prstGeom prst="rect">
              <a:avLst/>
            </a:prstGeom>
            <a:noFill/>
            <a:ln>
              <a:noFill/>
            </a:ln>
          </p:spPr>
          <p:txBody>
            <a:bodyPr spcFirstLastPara="1" wrap="square" lIns="91425" tIns="45700" rIns="91425" bIns="45700" anchor="b" anchorCtr="0">
              <a:noAutofit/>
            </a:bodyPr>
            <a:lstStyle/>
            <a:p>
              <a:pPr marL="0" lvl="0" indent="0" algn="just" rtl="0">
                <a:lnSpc>
                  <a:spcPct val="200000"/>
                </a:lnSpc>
                <a:spcBef>
                  <a:spcPts val="0"/>
                </a:spcBef>
                <a:spcAft>
                  <a:spcPts val="0"/>
                </a:spcAft>
                <a:buSzPts val="1018"/>
                <a:buNone/>
              </a:pPr>
              <a:r>
                <a:rPr lang="en-US" sz="1910" b="1" i="1">
                  <a:solidFill>
                    <a:schemeClr val="dk1"/>
                  </a:solidFill>
                  <a:latin typeface="Times New Roman" panose="02020603050405020304"/>
                  <a:ea typeface="Times New Roman" panose="02020603050405020304"/>
                  <a:cs typeface="Times New Roman" panose="02020603050405020304"/>
                  <a:sym typeface="Times New Roman" panose="02020603050405020304"/>
                </a:rPr>
                <a:t>Independent variable</a:t>
              </a:r>
              <a:endParaRPr sz="2095"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8"/>
            <p:cNvSpPr txBox="1"/>
            <p:nvPr/>
          </p:nvSpPr>
          <p:spPr>
            <a:xfrm>
              <a:off x="689639" y="5374325"/>
              <a:ext cx="4619400" cy="601800"/>
            </a:xfrm>
            <a:prstGeom prst="rect">
              <a:avLst/>
            </a:prstGeom>
            <a:noFill/>
            <a:ln>
              <a:noFill/>
            </a:ln>
          </p:spPr>
          <p:txBody>
            <a:bodyPr spcFirstLastPara="1" wrap="square" lIns="90000" tIns="46800" rIns="90000" bIns="46800" anchor="t" anchorCtr="0">
              <a:noAutofit/>
            </a:bodyPr>
            <a:lstStyle/>
            <a:p>
              <a:pPr marL="0" lvl="0" indent="0" algn="just" rtl="0">
                <a:lnSpc>
                  <a:spcPct val="115000"/>
                </a:lnSpc>
                <a:spcBef>
                  <a:spcPts val="0"/>
                </a:spcBef>
                <a:spcAft>
                  <a:spcPts val="0"/>
                </a:spcAft>
                <a:buSzPts val="1100"/>
                <a:buNone/>
              </a:pPr>
              <a:r>
                <a:rPr lang="en-US" sz="1600">
                  <a:solidFill>
                    <a:schemeClr val="dk1"/>
                  </a:solidFill>
                  <a:latin typeface="Times New Roman" panose="02020603050405020304"/>
                  <a:ea typeface="Times New Roman" panose="02020603050405020304"/>
                  <a:cs typeface="Times New Roman" panose="02020603050405020304"/>
                  <a:sym typeface="Times New Roman" panose="02020603050405020304"/>
                </a:rPr>
                <a:t>“Nickname” style lipstick naming</a:t>
              </a:r>
              <a:endParaRPr sz="145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pic>
        <p:nvPicPr>
          <p:cNvPr id="171" name="Google Shape;171;p8"/>
          <p:cNvPicPr preferRelativeResize="0"/>
          <p:nvPr/>
        </p:nvPicPr>
        <p:blipFill rotWithShape="1">
          <a:blip r:embed="rId1"/>
          <a:srcRect/>
          <a:stretch>
            <a:fillRect/>
          </a:stretch>
        </p:blipFill>
        <p:spPr>
          <a:xfrm flipH="1">
            <a:off x="3422676" y="3451741"/>
            <a:ext cx="565792" cy="408437"/>
          </a:xfrm>
          <a:prstGeom prst="rect">
            <a:avLst/>
          </a:prstGeom>
          <a:noFill/>
          <a:ln>
            <a:noFill/>
          </a:ln>
        </p:spPr>
      </p:pic>
      <p:sp>
        <p:nvSpPr>
          <p:cNvPr id="172" name="Google Shape;172;p8"/>
          <p:cNvSpPr txBox="1"/>
          <p:nvPr/>
        </p:nvSpPr>
        <p:spPr>
          <a:xfrm>
            <a:off x="4421554" y="5996939"/>
            <a:ext cx="3348892" cy="549282"/>
          </a:xfrm>
          <a:prstGeom prst="rect">
            <a:avLst/>
          </a:prstGeom>
          <a:noFill/>
          <a:ln>
            <a:noFill/>
          </a:ln>
        </p:spPr>
        <p:txBody>
          <a:bodyPr spcFirstLastPara="1" wrap="square" lIns="90000" tIns="46800" rIns="90000" bIns="46800" anchor="t" anchorCtr="0">
            <a:normAutofit/>
          </a:bodyPr>
          <a:lstStyle/>
          <a:p>
            <a:pPr marL="0" marR="0" lvl="0" indent="0" algn="ctr" rtl="0">
              <a:spcBef>
                <a:spcPts val="0"/>
              </a:spcBef>
              <a:spcAft>
                <a:spcPts val="0"/>
              </a:spcAft>
              <a:buNone/>
            </a:pPr>
            <a:endParaRPr sz="1050">
              <a:solidFill>
                <a:schemeClr val="dk1"/>
              </a:solidFill>
              <a:latin typeface="Arial" panose="020B0604020202020204"/>
              <a:ea typeface="Arial" panose="020B0604020202020204"/>
              <a:cs typeface="Arial" panose="020B0604020202020204"/>
              <a:sym typeface="Arial" panose="020B0604020202020204"/>
            </a:endParaRPr>
          </a:p>
        </p:txBody>
      </p:sp>
      <p:pic>
        <p:nvPicPr>
          <p:cNvPr id="173" name="Google Shape;173;p8"/>
          <p:cNvPicPr preferRelativeResize="0"/>
          <p:nvPr/>
        </p:nvPicPr>
        <p:blipFill rotWithShape="1">
          <a:blip r:embed="rId1"/>
          <a:srcRect/>
          <a:stretch>
            <a:fillRect/>
          </a:stretch>
        </p:blipFill>
        <p:spPr>
          <a:xfrm>
            <a:off x="6630004" y="1081562"/>
            <a:ext cx="565792" cy="408437"/>
          </a:xfrm>
          <a:prstGeom prst="rect">
            <a:avLst/>
          </a:prstGeom>
          <a:noFill/>
          <a:ln>
            <a:noFill/>
          </a:ln>
        </p:spPr>
      </p:pic>
      <p:pic>
        <p:nvPicPr>
          <p:cNvPr id="174" name="Google Shape;174;p8"/>
          <p:cNvPicPr preferRelativeResize="0"/>
          <p:nvPr/>
        </p:nvPicPr>
        <p:blipFill>
          <a:blip r:embed="rId2"/>
          <a:stretch>
            <a:fillRect/>
          </a:stretch>
        </p:blipFill>
        <p:spPr>
          <a:xfrm>
            <a:off x="237475" y="1081550"/>
            <a:ext cx="6238150" cy="3194650"/>
          </a:xfrm>
          <a:prstGeom prst="rect">
            <a:avLst/>
          </a:prstGeom>
          <a:noFill/>
          <a:ln w="9525" cap="flat" cmpd="sng">
            <a:solidFill>
              <a:schemeClr val="accent1"/>
            </a:solidFill>
            <a:prstDash val="solid"/>
            <a:round/>
            <a:headEnd type="none" w="sm" len="sm"/>
            <a:tailEnd type="none" w="sm" len="sm"/>
          </a:ln>
        </p:spPr>
      </p:pic>
      <p:grpSp>
        <p:nvGrpSpPr>
          <p:cNvPr id="175" name="Google Shape;175;p8"/>
          <p:cNvGrpSpPr/>
          <p:nvPr/>
        </p:nvGrpSpPr>
        <p:grpSpPr>
          <a:xfrm>
            <a:off x="7259050" y="2261979"/>
            <a:ext cx="2682503" cy="833788"/>
            <a:chOff x="689639" y="4918689"/>
            <a:chExt cx="4092300" cy="1057436"/>
          </a:xfrm>
        </p:grpSpPr>
        <p:sp>
          <p:nvSpPr>
            <p:cNvPr id="176" name="Google Shape;176;p8"/>
            <p:cNvSpPr txBox="1"/>
            <p:nvPr/>
          </p:nvSpPr>
          <p:spPr>
            <a:xfrm>
              <a:off x="689639" y="4918689"/>
              <a:ext cx="3772500" cy="372600"/>
            </a:xfrm>
            <a:prstGeom prst="rect">
              <a:avLst/>
            </a:prstGeom>
            <a:noFill/>
            <a:ln>
              <a:noFill/>
            </a:ln>
          </p:spPr>
          <p:txBody>
            <a:bodyPr spcFirstLastPara="1" wrap="square" lIns="91425" tIns="45700" rIns="91425" bIns="45700" anchor="b" anchorCtr="0">
              <a:noAutofit/>
            </a:bodyPr>
            <a:lstStyle/>
            <a:p>
              <a:pPr marL="0" lvl="0" indent="0" algn="just" rtl="0">
                <a:lnSpc>
                  <a:spcPct val="200000"/>
                </a:lnSpc>
                <a:spcBef>
                  <a:spcPts val="0"/>
                </a:spcBef>
                <a:spcAft>
                  <a:spcPts val="0"/>
                </a:spcAft>
                <a:buSzPts val="1100"/>
                <a:buNone/>
              </a:pPr>
              <a:r>
                <a:rPr lang="en-US" sz="1910" b="1" i="1">
                  <a:solidFill>
                    <a:schemeClr val="dk1"/>
                  </a:solidFill>
                  <a:latin typeface="Times New Roman" panose="02020603050405020304"/>
                  <a:ea typeface="Times New Roman" panose="02020603050405020304"/>
                  <a:cs typeface="Times New Roman" panose="02020603050405020304"/>
                  <a:sym typeface="Times New Roman" panose="02020603050405020304"/>
                </a:rPr>
                <a:t>Intermediate variable</a:t>
              </a:r>
              <a:endParaRPr sz="1910" b="1" i="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p8"/>
            <p:cNvSpPr txBox="1"/>
            <p:nvPr/>
          </p:nvSpPr>
          <p:spPr>
            <a:xfrm>
              <a:off x="689639" y="5374325"/>
              <a:ext cx="4092300" cy="601800"/>
            </a:xfrm>
            <a:prstGeom prst="rect">
              <a:avLst/>
            </a:prstGeom>
            <a:noFill/>
            <a:ln>
              <a:noFill/>
            </a:ln>
          </p:spPr>
          <p:txBody>
            <a:bodyPr spcFirstLastPara="1" wrap="square" lIns="90000" tIns="46800" rIns="90000" bIns="46800" anchor="t" anchorCtr="0">
              <a:noAutofit/>
            </a:bodyPr>
            <a:lstStyle/>
            <a:p>
              <a:pPr marL="0" lvl="0" indent="0" algn="just" rtl="0">
                <a:lnSpc>
                  <a:spcPct val="115000"/>
                </a:lnSpc>
                <a:spcBef>
                  <a:spcPts val="0"/>
                </a:spcBef>
                <a:spcAft>
                  <a:spcPts val="0"/>
                </a:spcAft>
                <a:buSzPts val="1100"/>
                <a:buNone/>
              </a:pPr>
              <a:r>
                <a:rPr lang="en-US" sz="1600">
                  <a:solidFill>
                    <a:schemeClr val="dk1"/>
                  </a:solidFill>
                  <a:latin typeface="Times New Roman" panose="02020603050405020304"/>
                  <a:ea typeface="Times New Roman" panose="02020603050405020304"/>
                  <a:cs typeface="Times New Roman" panose="02020603050405020304"/>
                  <a:sym typeface="Times New Roman" panose="02020603050405020304"/>
                </a:rPr>
                <a:t>The uniqueness of the product as perceived by the consumer</a:t>
              </a:r>
              <a:endParaRPr sz="1200" b="1" i="1">
                <a:solidFill>
                  <a:schemeClr val="dk1"/>
                </a:solidFill>
                <a:latin typeface="Calibri" panose="020F0502020204030204"/>
                <a:ea typeface="Calibri" panose="020F0502020204030204"/>
                <a:cs typeface="Calibri" panose="020F0502020204030204"/>
                <a:sym typeface="Calibri" panose="020F0502020204030204"/>
              </a:endParaRPr>
            </a:p>
            <a:p>
              <a:pPr marL="0" lvl="0" indent="0" algn="just" rtl="0">
                <a:lnSpc>
                  <a:spcPct val="115000"/>
                </a:lnSpc>
                <a:spcBef>
                  <a:spcPts val="0"/>
                </a:spcBef>
                <a:spcAft>
                  <a:spcPts val="0"/>
                </a:spcAft>
                <a:buSzPts val="1100"/>
                <a:buNone/>
              </a:pP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pic>
        <p:nvPicPr>
          <p:cNvPr id="178" name="Google Shape;178;p8"/>
          <p:cNvPicPr preferRelativeResize="0"/>
          <p:nvPr/>
        </p:nvPicPr>
        <p:blipFill rotWithShape="1">
          <a:blip r:embed="rId1"/>
          <a:srcRect/>
          <a:stretch>
            <a:fillRect/>
          </a:stretch>
        </p:blipFill>
        <p:spPr>
          <a:xfrm>
            <a:off x="6693254" y="2186362"/>
            <a:ext cx="565792" cy="408437"/>
          </a:xfrm>
          <a:prstGeom prst="rect">
            <a:avLst/>
          </a:prstGeom>
          <a:noFill/>
          <a:ln>
            <a:noFill/>
          </a:ln>
        </p:spPr>
      </p:pic>
      <p:grpSp>
        <p:nvGrpSpPr>
          <p:cNvPr id="179" name="Google Shape;179;p8"/>
          <p:cNvGrpSpPr/>
          <p:nvPr/>
        </p:nvGrpSpPr>
        <p:grpSpPr>
          <a:xfrm>
            <a:off x="7259050" y="3415300"/>
            <a:ext cx="3028017" cy="921608"/>
            <a:chOff x="689639" y="4966586"/>
            <a:chExt cx="4619400" cy="1009539"/>
          </a:xfrm>
        </p:grpSpPr>
        <p:sp>
          <p:nvSpPr>
            <p:cNvPr id="180" name="Google Shape;180;p8"/>
            <p:cNvSpPr txBox="1"/>
            <p:nvPr/>
          </p:nvSpPr>
          <p:spPr>
            <a:xfrm>
              <a:off x="689639" y="4966586"/>
              <a:ext cx="3772500" cy="372600"/>
            </a:xfrm>
            <a:prstGeom prst="rect">
              <a:avLst/>
            </a:prstGeom>
            <a:noFill/>
            <a:ln>
              <a:noFill/>
            </a:ln>
          </p:spPr>
          <p:txBody>
            <a:bodyPr spcFirstLastPara="1" wrap="square" lIns="91425" tIns="45700" rIns="91425" bIns="45700" anchor="b" anchorCtr="0">
              <a:noAutofit/>
            </a:bodyPr>
            <a:lstStyle/>
            <a:p>
              <a:pPr marL="0" lvl="0" indent="0" algn="just" rtl="0">
                <a:lnSpc>
                  <a:spcPct val="200000"/>
                </a:lnSpc>
                <a:spcBef>
                  <a:spcPts val="0"/>
                </a:spcBef>
                <a:spcAft>
                  <a:spcPts val="0"/>
                </a:spcAft>
                <a:buSzPts val="1100"/>
                <a:buNone/>
              </a:pPr>
              <a:r>
                <a:rPr lang="en-US" sz="1910" b="1" i="1">
                  <a:solidFill>
                    <a:schemeClr val="dk1"/>
                  </a:solidFill>
                  <a:latin typeface="Times New Roman" panose="02020603050405020304"/>
                  <a:ea typeface="Times New Roman" panose="02020603050405020304"/>
                  <a:cs typeface="Times New Roman" panose="02020603050405020304"/>
                  <a:sym typeface="Times New Roman" panose="02020603050405020304"/>
                </a:rPr>
                <a:t>Dependent variable</a:t>
              </a:r>
              <a:endParaRPr sz="1910" b="1" i="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 name="Google Shape;181;p8"/>
            <p:cNvSpPr txBox="1"/>
            <p:nvPr/>
          </p:nvSpPr>
          <p:spPr>
            <a:xfrm>
              <a:off x="689639" y="5374325"/>
              <a:ext cx="4619400" cy="601800"/>
            </a:xfrm>
            <a:prstGeom prst="rect">
              <a:avLst/>
            </a:prstGeom>
            <a:noFill/>
            <a:ln>
              <a:noFill/>
            </a:ln>
          </p:spPr>
          <p:txBody>
            <a:bodyPr spcFirstLastPara="1" wrap="square" lIns="90000" tIns="46800" rIns="90000" bIns="46800" anchor="t" anchorCtr="0">
              <a:noAutofit/>
            </a:bodyPr>
            <a:lstStyle/>
            <a:p>
              <a:pPr marL="0" lvl="0" indent="0" algn="just" rtl="0">
                <a:lnSpc>
                  <a:spcPct val="115000"/>
                </a:lnSpc>
                <a:spcBef>
                  <a:spcPts val="0"/>
                </a:spcBef>
                <a:spcAft>
                  <a:spcPts val="0"/>
                </a:spcAft>
                <a:buSzPts val="1100"/>
                <a:buNone/>
              </a:pPr>
              <a:r>
                <a:rPr lang="en-US" sz="1600">
                  <a:solidFill>
                    <a:schemeClr val="dk1"/>
                  </a:solidFill>
                  <a:latin typeface="Times New Roman" panose="02020603050405020304"/>
                  <a:ea typeface="Times New Roman" panose="02020603050405020304"/>
                  <a:cs typeface="Times New Roman" panose="02020603050405020304"/>
                  <a:sym typeface="Times New Roman" panose="02020603050405020304"/>
                </a:rPr>
                <a:t>Consumer purchase intention</a:t>
              </a: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pic>
        <p:nvPicPr>
          <p:cNvPr id="182" name="Google Shape;182;p8"/>
          <p:cNvPicPr preferRelativeResize="0"/>
          <p:nvPr/>
        </p:nvPicPr>
        <p:blipFill rotWithShape="1">
          <a:blip r:embed="rId1"/>
          <a:srcRect/>
          <a:stretch>
            <a:fillRect/>
          </a:stretch>
        </p:blipFill>
        <p:spPr>
          <a:xfrm>
            <a:off x="6693254" y="3347012"/>
            <a:ext cx="565792" cy="408437"/>
          </a:xfrm>
          <a:prstGeom prst="rect">
            <a:avLst/>
          </a:prstGeom>
          <a:noFill/>
          <a:ln>
            <a:noFill/>
          </a:ln>
        </p:spPr>
      </p:pic>
      <p:sp>
        <p:nvSpPr>
          <p:cNvPr id="183" name="Google Shape;183;p8"/>
          <p:cNvSpPr txBox="1"/>
          <p:nvPr/>
        </p:nvSpPr>
        <p:spPr>
          <a:xfrm>
            <a:off x="237475" y="4656425"/>
            <a:ext cx="10530600" cy="24627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Clr>
                <a:schemeClr val="dk1"/>
              </a:buClr>
              <a:buSzPts val="1100"/>
              <a:buFont typeface="Arial" panose="020B0604020202020204"/>
              <a:buNone/>
            </a:pPr>
            <a:r>
              <a:rPr lang="en-US" sz="16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H1: “Nickname” lipstick naming style affects consumer purchase intention.</a:t>
            </a:r>
            <a:endParaRPr sz="16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0"/>
              </a:spcBef>
              <a:spcAft>
                <a:spcPts val="0"/>
              </a:spcAft>
              <a:buClr>
                <a:schemeClr val="dk1"/>
              </a:buClr>
              <a:buSzPts val="1100"/>
              <a:buFont typeface="Arial" panose="020B0604020202020204"/>
              <a:buNone/>
            </a:pPr>
            <a:r>
              <a:rPr lang="en-US" sz="16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H2: “Nickname” style lipstick naming affects the uniqueness of the product as perceived by the consumer.</a:t>
            </a:r>
            <a:endParaRPr sz="16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0"/>
              </a:spcBef>
              <a:spcAft>
                <a:spcPts val="0"/>
              </a:spcAft>
              <a:buClr>
                <a:schemeClr val="dk1"/>
              </a:buClr>
              <a:buSzPts val="1100"/>
              <a:buFont typeface="Arial" panose="020B0604020202020204"/>
              <a:buNone/>
            </a:pPr>
            <a:r>
              <a:rPr lang="en-US" sz="16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H3: The uniqueness of the product as perceived by the consumer affects consumer purchase intention.</a:t>
            </a:r>
            <a:endParaRPr sz="16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0"/>
              </a:spcBef>
              <a:spcAft>
                <a:spcPts val="0"/>
              </a:spcAft>
              <a:buClr>
                <a:schemeClr val="dk1"/>
              </a:buClr>
              <a:buSzPts val="1100"/>
              <a:buFont typeface="Arial" panose="020B0604020202020204"/>
              <a:buNone/>
            </a:pPr>
            <a:r>
              <a:rPr lang="en-US" sz="16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H4: “Nickname” style lipstick naming affects consumer purchase intention by the uniqueness of the product as perceived by the consumer.</a:t>
            </a:r>
            <a:endParaRPr sz="16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800">
              <a:solidFill>
                <a:schemeClr val="dk1"/>
              </a:solidFill>
            </a:endParaRPr>
          </a:p>
        </p:txBody>
      </p:sp>
      <p:sp>
        <p:nvSpPr>
          <p:cNvPr id="184" name="Google Shape;184;p8"/>
          <p:cNvSpPr/>
          <p:nvPr/>
        </p:nvSpPr>
        <p:spPr>
          <a:xfrm>
            <a:off x="1776175" y="2133875"/>
            <a:ext cx="333000" cy="324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85" name="Google Shape;185;p8"/>
          <p:cNvSpPr/>
          <p:nvPr/>
        </p:nvSpPr>
        <p:spPr>
          <a:xfrm>
            <a:off x="6035925" y="2133875"/>
            <a:ext cx="439800" cy="324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89" name="Shape 189"/>
        <p:cNvGrpSpPr/>
        <p:nvPr/>
      </p:nvGrpSpPr>
      <p:grpSpPr>
        <a:xfrm>
          <a:off x="0" y="0"/>
          <a:ext cx="0" cy="0"/>
          <a:chOff x="0" y="0"/>
          <a:chExt cx="0" cy="0"/>
        </a:xfrm>
      </p:grpSpPr>
      <p:sp>
        <p:nvSpPr>
          <p:cNvPr id="190" name="Google Shape;190;p9"/>
          <p:cNvSpPr txBox="1"/>
          <p:nvPr/>
        </p:nvSpPr>
        <p:spPr>
          <a:xfrm>
            <a:off x="4711700" y="2444000"/>
            <a:ext cx="2553300" cy="615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sp>
        <p:nvSpPr>
          <p:cNvPr id="191" name="Google Shape;191;p9"/>
          <p:cNvSpPr txBox="1"/>
          <p:nvPr/>
        </p:nvSpPr>
        <p:spPr>
          <a:xfrm>
            <a:off x="715400" y="2429900"/>
            <a:ext cx="3157500" cy="6156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grpSp>
        <p:nvGrpSpPr>
          <p:cNvPr id="192" name="Google Shape;192;p9"/>
          <p:cNvGrpSpPr/>
          <p:nvPr/>
        </p:nvGrpSpPr>
        <p:grpSpPr>
          <a:xfrm>
            <a:off x="1532602" y="339290"/>
            <a:ext cx="7391700" cy="675669"/>
            <a:chOff x="1303244" y="512100"/>
            <a:chExt cx="7391700" cy="675669"/>
          </a:xfrm>
        </p:grpSpPr>
        <p:sp>
          <p:nvSpPr>
            <p:cNvPr id="193" name="Google Shape;193;p9"/>
            <p:cNvSpPr txBox="1"/>
            <p:nvPr/>
          </p:nvSpPr>
          <p:spPr>
            <a:xfrm>
              <a:off x="1303244" y="512100"/>
              <a:ext cx="7391700" cy="601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1100"/>
                <a:buFont typeface="Arial" panose="020B0604020202020204"/>
                <a:buNone/>
              </a:pPr>
              <a:r>
                <a:rPr lang="en-US" sz="3200">
                  <a:solidFill>
                    <a:srgbClr val="262626"/>
                  </a:solidFill>
                  <a:latin typeface="Times New Roman" panose="02020603050405020304"/>
                  <a:ea typeface="Times New Roman" panose="02020603050405020304"/>
                  <a:cs typeface="Times New Roman" panose="02020603050405020304"/>
                  <a:sym typeface="Times New Roman" panose="02020603050405020304"/>
                </a:rPr>
                <a:t>Justification for H1</a:t>
              </a:r>
              <a:endParaRPr sz="3200">
                <a:solidFill>
                  <a:srgbClr val="262626"/>
                </a:solidFill>
                <a:latin typeface="Arial" panose="020B0604020202020204"/>
                <a:ea typeface="Arial" panose="020B0604020202020204"/>
                <a:cs typeface="Arial" panose="020B0604020202020204"/>
                <a:sym typeface="Arial" panose="020B0604020202020204"/>
              </a:endParaRPr>
            </a:p>
          </p:txBody>
        </p:sp>
        <p:sp>
          <p:nvSpPr>
            <p:cNvPr id="194" name="Google Shape;194;p9"/>
            <p:cNvSpPr/>
            <p:nvPr/>
          </p:nvSpPr>
          <p:spPr>
            <a:xfrm>
              <a:off x="1303244" y="926159"/>
              <a:ext cx="3374625"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grpSp>
      <p:sp>
        <p:nvSpPr>
          <p:cNvPr id="195" name="Google Shape;195;p9"/>
          <p:cNvSpPr txBox="1"/>
          <p:nvPr/>
        </p:nvSpPr>
        <p:spPr>
          <a:xfrm>
            <a:off x="715400" y="2526200"/>
            <a:ext cx="3503100" cy="4311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Clr>
                <a:schemeClr val="dk1"/>
              </a:buClr>
              <a:buSzPts val="1100"/>
              <a:buFont typeface="Arial" panose="020B0604020202020204"/>
              <a:buNone/>
            </a:pPr>
            <a:r>
              <a:rPr lang="en-US" sz="1600" b="1">
                <a:solidFill>
                  <a:schemeClr val="dk1"/>
                </a:solidFill>
                <a:latin typeface="Times New Roman" panose="02020603050405020304"/>
                <a:ea typeface="Times New Roman" panose="02020603050405020304"/>
                <a:cs typeface="Times New Roman" panose="02020603050405020304"/>
                <a:sym typeface="Times New Roman" panose="02020603050405020304"/>
              </a:rPr>
              <a:t>“Nickname” lipstick naming style</a:t>
            </a:r>
            <a:endParaRPr sz="2800">
              <a:solidFill>
                <a:schemeClr val="dk1"/>
              </a:solidFill>
            </a:endParaRPr>
          </a:p>
        </p:txBody>
      </p:sp>
      <p:cxnSp>
        <p:nvCxnSpPr>
          <p:cNvPr id="196" name="Google Shape;196;p9"/>
          <p:cNvCxnSpPr>
            <a:stCxn id="191" idx="3"/>
          </p:cNvCxnSpPr>
          <p:nvPr/>
        </p:nvCxnSpPr>
        <p:spPr>
          <a:xfrm>
            <a:off x="3872900" y="2737700"/>
            <a:ext cx="838800" cy="8100"/>
          </a:xfrm>
          <a:prstGeom prst="straightConnector1">
            <a:avLst/>
          </a:prstGeom>
          <a:noFill/>
          <a:ln w="9525" cap="flat" cmpd="sng">
            <a:solidFill>
              <a:schemeClr val="dk2"/>
            </a:solidFill>
            <a:prstDash val="solid"/>
            <a:round/>
            <a:headEnd type="none" w="med" len="med"/>
            <a:tailEnd type="triangle" w="med" len="med"/>
          </a:ln>
        </p:spPr>
      </p:cxnSp>
      <p:sp>
        <p:nvSpPr>
          <p:cNvPr id="197" name="Google Shape;197;p9"/>
          <p:cNvSpPr txBox="1"/>
          <p:nvPr/>
        </p:nvSpPr>
        <p:spPr>
          <a:xfrm>
            <a:off x="4711700" y="2544050"/>
            <a:ext cx="3000000" cy="4155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Consumer purchase intention</a:t>
            </a:r>
            <a:endParaRPr>
              <a:solidFill>
                <a:schemeClr val="dk1"/>
              </a:solidFill>
            </a:endParaRPr>
          </a:p>
        </p:txBody>
      </p:sp>
      <p:sp>
        <p:nvSpPr>
          <p:cNvPr id="198" name="Google Shape;198;p9"/>
          <p:cNvSpPr txBox="1"/>
          <p:nvPr/>
        </p:nvSpPr>
        <p:spPr>
          <a:xfrm>
            <a:off x="715400" y="3811325"/>
            <a:ext cx="6549600" cy="861900"/>
          </a:xfrm>
          <a:prstGeom prst="rect">
            <a:avLst/>
          </a:prstGeom>
          <a:noFill/>
          <a:ln>
            <a:noFill/>
          </a:ln>
        </p:spPr>
        <p:txBody>
          <a:bodyPr spcFirstLastPara="1" wrap="square" lIns="91425" tIns="91425" rIns="91425" bIns="91425" anchor="t" anchorCtr="0">
            <a:spAutoFit/>
          </a:bodyPr>
          <a:lstStyle/>
          <a:p>
            <a:pPr marL="0" lvl="0" indent="0" algn="just" rtl="0">
              <a:lnSpc>
                <a:spcPct val="100000"/>
              </a:lnSpc>
              <a:spcBef>
                <a:spcPts val="0"/>
              </a:spcBef>
              <a:spcAft>
                <a:spcPts val="0"/>
              </a:spcAft>
              <a:buNone/>
            </a:pPr>
            <a:r>
              <a:rPr lang="en-US" sz="22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H1: “Nickname” lipstick naming style affects consumer purchase intention.</a:t>
            </a:r>
            <a:endParaRPr sz="2000"/>
          </a:p>
        </p:txBody>
      </p:sp>
      <p:sp>
        <p:nvSpPr>
          <p:cNvPr id="199" name="Google Shape;199;p9"/>
          <p:cNvSpPr txBox="1"/>
          <p:nvPr/>
        </p:nvSpPr>
        <p:spPr>
          <a:xfrm>
            <a:off x="7711700" y="1014950"/>
            <a:ext cx="3651000" cy="5156400"/>
          </a:xfrm>
          <a:prstGeom prst="rect">
            <a:avLst/>
          </a:prstGeom>
          <a:noFill/>
          <a:ln>
            <a:noFill/>
          </a:ln>
        </p:spPr>
        <p:txBody>
          <a:bodyPr spcFirstLastPara="1" wrap="square" lIns="91425" tIns="91425" rIns="91425" bIns="91425" anchor="t" anchorCtr="0">
            <a:spAutoFit/>
          </a:bodyPr>
          <a:lstStyle/>
          <a:p>
            <a:pPr marL="457200" lvl="0" indent="-336550" algn="l" rtl="0">
              <a:spcBef>
                <a:spcPts val="0"/>
              </a:spcBef>
              <a:spcAft>
                <a:spcPts val="0"/>
              </a:spcAft>
              <a:buClr>
                <a:srgbClr val="1F1F1F"/>
              </a:buClr>
              <a:buSzPts val="1700"/>
              <a:buFont typeface="Times New Roman" panose="02020603050405020304"/>
              <a:buChar char="●"/>
            </a:pPr>
            <a:r>
              <a:rPr lang="en-US"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The theory of conversational implicatures</a:t>
            </a: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36550" algn="l" rtl="0">
              <a:spcBef>
                <a:spcPts val="0"/>
              </a:spcBef>
              <a:spcAft>
                <a:spcPts val="0"/>
              </a:spcAft>
              <a:buClr>
                <a:srgbClr val="1F1F1F"/>
              </a:buClr>
              <a:buSzPts val="1700"/>
              <a:buFont typeface="Times New Roman" panose="02020603050405020304"/>
              <a:buChar char="●"/>
            </a:pPr>
            <a:r>
              <a:rPr lang="en-US"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Lipstick marketing customers perceive that marketers in introduction language use to aid purchase (Wansink &amp; Chandon, 2006). </a:t>
            </a: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36550" algn="l" rtl="0">
              <a:spcBef>
                <a:spcPts val="0"/>
              </a:spcBef>
              <a:spcAft>
                <a:spcPts val="0"/>
              </a:spcAft>
              <a:buClr>
                <a:srgbClr val="1F1F1F"/>
              </a:buClr>
              <a:buSzPts val="1700"/>
              <a:buFont typeface="Times New Roman" panose="02020603050405020304"/>
              <a:buChar char="●"/>
            </a:pPr>
            <a:r>
              <a:rPr lang="en-US"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As soon as the marketing information delivered to customers does not cover the product information well or if it differs from expectations, the consumers begin to imagine or guess the very reasons to explain this ambiguity or deviation from expectations (Kronrod &amp; Huber, 2015). </a:t>
            </a: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sp>
        <p:nvSpPr>
          <p:cNvPr id="204" name="Google Shape;204;g2cd2bbb7c26_1_54"/>
          <p:cNvSpPr txBox="1"/>
          <p:nvPr/>
        </p:nvSpPr>
        <p:spPr>
          <a:xfrm>
            <a:off x="4711700" y="2444000"/>
            <a:ext cx="3416700" cy="615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sp>
        <p:nvSpPr>
          <p:cNvPr id="205" name="Google Shape;205;g2cd2bbb7c26_1_54"/>
          <p:cNvSpPr txBox="1"/>
          <p:nvPr/>
        </p:nvSpPr>
        <p:spPr>
          <a:xfrm>
            <a:off x="715400" y="2429900"/>
            <a:ext cx="3157500" cy="6156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grpSp>
        <p:nvGrpSpPr>
          <p:cNvPr id="206" name="Google Shape;206;g2cd2bbb7c26_1_54"/>
          <p:cNvGrpSpPr/>
          <p:nvPr/>
        </p:nvGrpSpPr>
        <p:grpSpPr>
          <a:xfrm>
            <a:off x="1532602" y="339290"/>
            <a:ext cx="7391700" cy="675659"/>
            <a:chOff x="1303244" y="512100"/>
            <a:chExt cx="7391700" cy="675659"/>
          </a:xfrm>
        </p:grpSpPr>
        <p:sp>
          <p:nvSpPr>
            <p:cNvPr id="207" name="Google Shape;207;g2cd2bbb7c26_1_54"/>
            <p:cNvSpPr txBox="1"/>
            <p:nvPr/>
          </p:nvSpPr>
          <p:spPr>
            <a:xfrm>
              <a:off x="1303244" y="512100"/>
              <a:ext cx="7391700" cy="601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SzPts val="1100"/>
                <a:buNone/>
              </a:pPr>
              <a:r>
                <a:rPr lang="en-US" sz="3200">
                  <a:solidFill>
                    <a:srgbClr val="262626"/>
                  </a:solidFill>
                  <a:latin typeface="Times New Roman" panose="02020603050405020304"/>
                  <a:ea typeface="Times New Roman" panose="02020603050405020304"/>
                  <a:cs typeface="Times New Roman" panose="02020603050405020304"/>
                  <a:sym typeface="Times New Roman" panose="02020603050405020304"/>
                </a:rPr>
                <a:t>Justification for H2</a:t>
              </a:r>
              <a:endParaRPr sz="3200">
                <a:solidFill>
                  <a:srgbClr val="262626"/>
                </a:solidFill>
                <a:latin typeface="Arial" panose="020B0604020202020204"/>
                <a:ea typeface="Arial" panose="020B0604020202020204"/>
                <a:cs typeface="Arial" panose="020B0604020202020204"/>
                <a:sym typeface="Arial" panose="020B0604020202020204"/>
              </a:endParaRPr>
            </a:p>
          </p:txBody>
        </p:sp>
        <p:sp>
          <p:nvSpPr>
            <p:cNvPr id="208" name="Google Shape;208;g2cd2bbb7c26_1_54"/>
            <p:cNvSpPr/>
            <p:nvPr/>
          </p:nvSpPr>
          <p:spPr>
            <a:xfrm>
              <a:off x="1303244" y="926159"/>
              <a:ext cx="3374700" cy="261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grpSp>
      <p:sp>
        <p:nvSpPr>
          <p:cNvPr id="209" name="Google Shape;209;g2cd2bbb7c26_1_54"/>
          <p:cNvSpPr txBox="1"/>
          <p:nvPr/>
        </p:nvSpPr>
        <p:spPr>
          <a:xfrm>
            <a:off x="715400" y="2526200"/>
            <a:ext cx="3503100" cy="4311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US" sz="1600" b="1">
                <a:solidFill>
                  <a:schemeClr val="dk1"/>
                </a:solidFill>
                <a:latin typeface="Times New Roman" panose="02020603050405020304"/>
                <a:ea typeface="Times New Roman" panose="02020603050405020304"/>
                <a:cs typeface="Times New Roman" panose="02020603050405020304"/>
                <a:sym typeface="Times New Roman" panose="02020603050405020304"/>
              </a:rPr>
              <a:t>“Nickname” lipstick naming style</a:t>
            </a:r>
            <a:endParaRPr sz="2800">
              <a:solidFill>
                <a:schemeClr val="dk1"/>
              </a:solidFill>
            </a:endParaRPr>
          </a:p>
        </p:txBody>
      </p:sp>
      <p:cxnSp>
        <p:nvCxnSpPr>
          <p:cNvPr id="210" name="Google Shape;210;g2cd2bbb7c26_1_54"/>
          <p:cNvCxnSpPr>
            <a:stCxn id="205" idx="3"/>
          </p:cNvCxnSpPr>
          <p:nvPr/>
        </p:nvCxnSpPr>
        <p:spPr>
          <a:xfrm>
            <a:off x="3872900" y="2737700"/>
            <a:ext cx="838800" cy="8100"/>
          </a:xfrm>
          <a:prstGeom prst="straightConnector1">
            <a:avLst/>
          </a:prstGeom>
          <a:noFill/>
          <a:ln w="9525" cap="flat" cmpd="sng">
            <a:solidFill>
              <a:schemeClr val="dk2"/>
            </a:solidFill>
            <a:prstDash val="solid"/>
            <a:round/>
            <a:headEnd type="none" w="med" len="med"/>
            <a:tailEnd type="triangle" w="med" len="med"/>
          </a:ln>
        </p:spPr>
      </p:cxnSp>
      <p:sp>
        <p:nvSpPr>
          <p:cNvPr id="211" name="Google Shape;211;g2cd2bbb7c26_1_54"/>
          <p:cNvSpPr txBox="1"/>
          <p:nvPr/>
        </p:nvSpPr>
        <p:spPr>
          <a:xfrm>
            <a:off x="4668500" y="2399150"/>
            <a:ext cx="3503100" cy="677100"/>
          </a:xfrm>
          <a:prstGeom prst="rect">
            <a:avLst/>
          </a:prstGeom>
          <a:noFill/>
          <a:ln>
            <a:noFill/>
          </a:ln>
        </p:spPr>
        <p:txBody>
          <a:bodyPr spcFirstLastPara="1" wrap="square" lIns="91425" tIns="91425" rIns="91425" bIns="91425" anchor="t" anchorCtr="0">
            <a:spAutoFit/>
          </a:bodyPr>
          <a:lstStyle/>
          <a:p>
            <a:pPr marL="0" lvl="0" indent="0" algn="just" rtl="0">
              <a:lnSpc>
                <a:spcPct val="100000"/>
              </a:lnSpc>
              <a:spcBef>
                <a:spcPts val="0"/>
              </a:spcBef>
              <a:spcAft>
                <a:spcPts val="0"/>
              </a:spcAft>
              <a:buNone/>
            </a:pPr>
            <a:r>
              <a:rPr lang="en-US" sz="1600" b="1">
                <a:solidFill>
                  <a:schemeClr val="dk1"/>
                </a:solidFill>
                <a:latin typeface="Times New Roman" panose="02020603050405020304"/>
                <a:ea typeface="Times New Roman" panose="02020603050405020304"/>
                <a:cs typeface="Times New Roman" panose="02020603050405020304"/>
                <a:sym typeface="Times New Roman" panose="02020603050405020304"/>
              </a:rPr>
              <a:t>T</a:t>
            </a:r>
            <a:r>
              <a:rPr lang="en-US" sz="1600" b="1">
                <a:solidFill>
                  <a:schemeClr val="dk1"/>
                </a:solidFill>
                <a:latin typeface="Times New Roman" panose="02020603050405020304"/>
                <a:ea typeface="Times New Roman" panose="02020603050405020304"/>
                <a:cs typeface="Times New Roman" panose="02020603050405020304"/>
                <a:sym typeface="Times New Roman" panose="02020603050405020304"/>
              </a:rPr>
              <a:t>he uniqueness of the product as perceived by the consumer</a:t>
            </a:r>
            <a:endParaRPr>
              <a:solidFill>
                <a:schemeClr val="dk1"/>
              </a:solidFill>
            </a:endParaRPr>
          </a:p>
        </p:txBody>
      </p:sp>
      <p:sp>
        <p:nvSpPr>
          <p:cNvPr id="212" name="Google Shape;212;g2cd2bbb7c26_1_54"/>
          <p:cNvSpPr txBox="1"/>
          <p:nvPr/>
        </p:nvSpPr>
        <p:spPr>
          <a:xfrm>
            <a:off x="715400" y="3811325"/>
            <a:ext cx="7456200" cy="10314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US" sz="22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H2: “Nickname” style lipstick naming affects the uniqueness of the product as perceived by the consumer.</a:t>
            </a:r>
            <a:endParaRPr sz="22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 name="Google Shape;213;g2cd2bbb7c26_1_54"/>
          <p:cNvSpPr txBox="1"/>
          <p:nvPr/>
        </p:nvSpPr>
        <p:spPr>
          <a:xfrm>
            <a:off x="8350475" y="1455475"/>
            <a:ext cx="3034200" cy="43713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1F1F1F"/>
              </a:buClr>
              <a:buSzPts val="1700"/>
              <a:buFont typeface="Times New Roman" panose="02020603050405020304"/>
              <a:buChar char="●"/>
            </a:pPr>
            <a:r>
              <a:rPr lang="en-US"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Research shows that consumers also associate an "unusual" product with a "unique" product (Bressler, 2022). </a:t>
            </a: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l" rtl="0">
              <a:lnSpc>
                <a:spcPct val="100000"/>
              </a:lnSpc>
              <a:spcBef>
                <a:spcPts val="0"/>
              </a:spcBef>
              <a:spcAft>
                <a:spcPts val="0"/>
              </a:spcAft>
              <a:buNone/>
            </a:pP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marR="0" lvl="0" indent="-336550" algn="l" rtl="0">
              <a:lnSpc>
                <a:spcPct val="100000"/>
              </a:lnSpc>
              <a:spcBef>
                <a:spcPts val="0"/>
              </a:spcBef>
              <a:spcAft>
                <a:spcPts val="0"/>
              </a:spcAft>
              <a:buClr>
                <a:srgbClr val="1F1F1F"/>
              </a:buClr>
              <a:buSzPts val="1700"/>
              <a:buFont typeface="Times New Roman" panose="02020603050405020304"/>
              <a:buChar char="●"/>
            </a:pPr>
            <a:r>
              <a:rPr lang="en-US"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A special model represents the attitudinal, cognitive, and affective variables of consumers that are broadly used to find key sensory, imaginal, functional, emotional, and other attributes that make the product unique (Cohen, 1990).</a:t>
            </a:r>
            <a:endParaRPr sz="2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17" name="Shape 217"/>
        <p:cNvGrpSpPr/>
        <p:nvPr/>
      </p:nvGrpSpPr>
      <p:grpSpPr>
        <a:xfrm>
          <a:off x="0" y="0"/>
          <a:ext cx="0" cy="0"/>
          <a:chOff x="0" y="0"/>
          <a:chExt cx="0" cy="0"/>
        </a:xfrm>
      </p:grpSpPr>
      <p:sp>
        <p:nvSpPr>
          <p:cNvPr id="218" name="Google Shape;218;g2cd2bbb7c26_1_66"/>
          <p:cNvSpPr txBox="1"/>
          <p:nvPr/>
        </p:nvSpPr>
        <p:spPr>
          <a:xfrm>
            <a:off x="456200" y="2429900"/>
            <a:ext cx="3416700" cy="6156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grpSp>
        <p:nvGrpSpPr>
          <p:cNvPr id="219" name="Google Shape;219;g2cd2bbb7c26_1_66"/>
          <p:cNvGrpSpPr/>
          <p:nvPr/>
        </p:nvGrpSpPr>
        <p:grpSpPr>
          <a:xfrm>
            <a:off x="1532602" y="339290"/>
            <a:ext cx="7391700" cy="675659"/>
            <a:chOff x="1303244" y="512100"/>
            <a:chExt cx="7391700" cy="675659"/>
          </a:xfrm>
        </p:grpSpPr>
        <p:sp>
          <p:nvSpPr>
            <p:cNvPr id="220" name="Google Shape;220;g2cd2bbb7c26_1_66"/>
            <p:cNvSpPr txBox="1"/>
            <p:nvPr/>
          </p:nvSpPr>
          <p:spPr>
            <a:xfrm>
              <a:off x="1303244" y="512100"/>
              <a:ext cx="7391700" cy="601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SzPts val="1100"/>
                <a:buNone/>
              </a:pPr>
              <a:r>
                <a:rPr lang="en-US" sz="3200">
                  <a:solidFill>
                    <a:srgbClr val="262626"/>
                  </a:solidFill>
                  <a:latin typeface="Times New Roman" panose="02020603050405020304"/>
                  <a:ea typeface="Times New Roman" panose="02020603050405020304"/>
                  <a:cs typeface="Times New Roman" panose="02020603050405020304"/>
                  <a:sym typeface="Times New Roman" panose="02020603050405020304"/>
                </a:rPr>
                <a:t>Justification for H3</a:t>
              </a:r>
              <a:endParaRPr sz="3200">
                <a:solidFill>
                  <a:srgbClr val="262626"/>
                </a:solidFill>
                <a:latin typeface="Arial" panose="020B0604020202020204"/>
                <a:ea typeface="Arial" panose="020B0604020202020204"/>
                <a:cs typeface="Arial" panose="020B0604020202020204"/>
                <a:sym typeface="Arial" panose="020B0604020202020204"/>
              </a:endParaRPr>
            </a:p>
          </p:txBody>
        </p:sp>
        <p:sp>
          <p:nvSpPr>
            <p:cNvPr id="221" name="Google Shape;221;g2cd2bbb7c26_1_66"/>
            <p:cNvSpPr/>
            <p:nvPr/>
          </p:nvSpPr>
          <p:spPr>
            <a:xfrm>
              <a:off x="1303244" y="926159"/>
              <a:ext cx="3374700" cy="261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grpSp>
      <p:cxnSp>
        <p:nvCxnSpPr>
          <p:cNvPr id="222" name="Google Shape;222;g2cd2bbb7c26_1_66"/>
          <p:cNvCxnSpPr>
            <a:stCxn id="218" idx="3"/>
          </p:cNvCxnSpPr>
          <p:nvPr/>
        </p:nvCxnSpPr>
        <p:spPr>
          <a:xfrm>
            <a:off x="3872900" y="2737700"/>
            <a:ext cx="838800" cy="8100"/>
          </a:xfrm>
          <a:prstGeom prst="straightConnector1">
            <a:avLst/>
          </a:prstGeom>
          <a:noFill/>
          <a:ln w="9525" cap="flat" cmpd="sng">
            <a:solidFill>
              <a:schemeClr val="dk2"/>
            </a:solidFill>
            <a:prstDash val="solid"/>
            <a:round/>
            <a:headEnd type="none" w="med" len="med"/>
            <a:tailEnd type="triangle" w="med" len="med"/>
          </a:ln>
        </p:spPr>
      </p:cxnSp>
      <p:sp>
        <p:nvSpPr>
          <p:cNvPr id="223" name="Google Shape;223;g2cd2bbb7c26_1_66"/>
          <p:cNvSpPr txBox="1"/>
          <p:nvPr/>
        </p:nvSpPr>
        <p:spPr>
          <a:xfrm>
            <a:off x="413000" y="2403200"/>
            <a:ext cx="3503100" cy="677100"/>
          </a:xfrm>
          <a:prstGeom prst="rect">
            <a:avLst/>
          </a:prstGeom>
          <a:noFill/>
          <a:ln>
            <a:noFill/>
          </a:ln>
        </p:spPr>
        <p:txBody>
          <a:bodyPr spcFirstLastPara="1" wrap="square" lIns="91425" tIns="91425" rIns="91425" bIns="91425" anchor="t" anchorCtr="0">
            <a:spAutoFit/>
          </a:bodyPr>
          <a:lstStyle/>
          <a:p>
            <a:pPr marL="0" lvl="0" indent="0" algn="just" rtl="0">
              <a:lnSpc>
                <a:spcPct val="100000"/>
              </a:lnSpc>
              <a:spcBef>
                <a:spcPts val="0"/>
              </a:spcBef>
              <a:spcAft>
                <a:spcPts val="0"/>
              </a:spcAft>
              <a:buNone/>
            </a:pPr>
            <a:r>
              <a:rPr lang="en-US" sz="1600" b="1">
                <a:solidFill>
                  <a:schemeClr val="dk1"/>
                </a:solidFill>
                <a:latin typeface="Times New Roman" panose="02020603050405020304"/>
                <a:ea typeface="Times New Roman" panose="02020603050405020304"/>
                <a:cs typeface="Times New Roman" panose="02020603050405020304"/>
                <a:sym typeface="Times New Roman" panose="02020603050405020304"/>
              </a:rPr>
              <a:t>The uniqueness of the product as perceived by the consumer</a:t>
            </a:r>
            <a:endParaRPr>
              <a:solidFill>
                <a:schemeClr val="dk1"/>
              </a:solidFill>
            </a:endParaRPr>
          </a:p>
        </p:txBody>
      </p:sp>
      <p:sp>
        <p:nvSpPr>
          <p:cNvPr id="224" name="Google Shape;224;g2cd2bbb7c26_1_66"/>
          <p:cNvSpPr txBox="1"/>
          <p:nvPr/>
        </p:nvSpPr>
        <p:spPr>
          <a:xfrm>
            <a:off x="413000" y="3737325"/>
            <a:ext cx="6852000" cy="10314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US" sz="22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H3: The uniqueness of the product as perceived by the consumer affects consumer purchase intention.</a:t>
            </a:r>
            <a:endParaRPr sz="22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5" name="Google Shape;225;g2cd2bbb7c26_1_66"/>
          <p:cNvSpPr txBox="1"/>
          <p:nvPr/>
        </p:nvSpPr>
        <p:spPr>
          <a:xfrm>
            <a:off x="4711700" y="2444000"/>
            <a:ext cx="2553300" cy="615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sp>
        <p:nvSpPr>
          <p:cNvPr id="226" name="Google Shape;226;g2cd2bbb7c26_1_66"/>
          <p:cNvSpPr txBox="1"/>
          <p:nvPr/>
        </p:nvSpPr>
        <p:spPr>
          <a:xfrm>
            <a:off x="4711700" y="2529950"/>
            <a:ext cx="3000000" cy="4155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Consumer purchase intention</a:t>
            </a:r>
            <a:endParaRPr>
              <a:solidFill>
                <a:schemeClr val="dk1"/>
              </a:solidFill>
            </a:endParaRPr>
          </a:p>
        </p:txBody>
      </p:sp>
      <p:sp>
        <p:nvSpPr>
          <p:cNvPr id="227" name="Google Shape;227;g2cd2bbb7c26_1_66"/>
          <p:cNvSpPr txBox="1"/>
          <p:nvPr/>
        </p:nvSpPr>
        <p:spPr>
          <a:xfrm>
            <a:off x="7869450" y="1837850"/>
            <a:ext cx="3416700" cy="41097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1F1F1F"/>
              </a:buClr>
              <a:buSzPts val="1700"/>
              <a:buFont typeface="Times New Roman" panose="02020603050405020304"/>
              <a:buChar char="●"/>
            </a:pPr>
            <a:r>
              <a:rPr lang="en-US"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The perceived uniqueness of the self-designed products is an independent variable of the consumer experience utility, and it is mediated by consumers' preferences for uniqueness (Tian, et al. 2001).</a:t>
            </a: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l" rtl="0">
              <a:lnSpc>
                <a:spcPct val="100000"/>
              </a:lnSpc>
              <a:spcBef>
                <a:spcPts val="0"/>
              </a:spcBef>
              <a:spcAft>
                <a:spcPts val="0"/>
              </a:spcAft>
              <a:buNone/>
            </a:pP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marR="0" lvl="0" indent="-336550" algn="l" rtl="0">
              <a:lnSpc>
                <a:spcPct val="100000"/>
              </a:lnSpc>
              <a:spcBef>
                <a:spcPts val="0"/>
              </a:spcBef>
              <a:spcAft>
                <a:spcPts val="0"/>
              </a:spcAft>
              <a:buClr>
                <a:srgbClr val="1F1F1F"/>
              </a:buClr>
              <a:buSzPts val="1700"/>
              <a:buFont typeface="Times New Roman" panose="02020603050405020304"/>
              <a:buChar char="●"/>
            </a:pPr>
            <a:r>
              <a:rPr lang="en-US"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Products do not have to be completely different for their uniqueness to catch consumers' attention, and a very distinctive product may not even guarantee any market success (Lagerlöf, 2006). </a:t>
            </a:r>
            <a:endParaRPr sz="1700">
              <a:solidFill>
                <a:srgbClr val="1F1F1F"/>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31" name="Shape 231"/>
        <p:cNvGrpSpPr/>
        <p:nvPr/>
      </p:nvGrpSpPr>
      <p:grpSpPr>
        <a:xfrm>
          <a:off x="0" y="0"/>
          <a:ext cx="0" cy="0"/>
          <a:chOff x="0" y="0"/>
          <a:chExt cx="0" cy="0"/>
        </a:xfrm>
      </p:grpSpPr>
      <p:sp>
        <p:nvSpPr>
          <p:cNvPr id="232" name="Google Shape;232;g2cd2bbb7c26_1_78"/>
          <p:cNvSpPr txBox="1"/>
          <p:nvPr/>
        </p:nvSpPr>
        <p:spPr>
          <a:xfrm>
            <a:off x="4238425" y="1410563"/>
            <a:ext cx="3416700" cy="615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sp>
        <p:nvSpPr>
          <p:cNvPr id="233" name="Google Shape;233;g2cd2bbb7c26_1_78"/>
          <p:cNvSpPr txBox="1"/>
          <p:nvPr/>
        </p:nvSpPr>
        <p:spPr>
          <a:xfrm>
            <a:off x="2147650" y="3310888"/>
            <a:ext cx="3157500" cy="615600"/>
          </a:xfrm>
          <a:prstGeom prst="rect">
            <a:avLst/>
          </a:prstGeom>
          <a:noFill/>
          <a:ln w="9525" cap="flat" cmpd="sng">
            <a:solidFill>
              <a:srgbClr val="434343"/>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grpSp>
        <p:nvGrpSpPr>
          <p:cNvPr id="234" name="Google Shape;234;g2cd2bbb7c26_1_78"/>
          <p:cNvGrpSpPr/>
          <p:nvPr/>
        </p:nvGrpSpPr>
        <p:grpSpPr>
          <a:xfrm>
            <a:off x="1532602" y="339290"/>
            <a:ext cx="7391700" cy="675659"/>
            <a:chOff x="1303244" y="512100"/>
            <a:chExt cx="7391700" cy="675659"/>
          </a:xfrm>
        </p:grpSpPr>
        <p:sp>
          <p:nvSpPr>
            <p:cNvPr id="235" name="Google Shape;235;g2cd2bbb7c26_1_78"/>
            <p:cNvSpPr txBox="1"/>
            <p:nvPr/>
          </p:nvSpPr>
          <p:spPr>
            <a:xfrm>
              <a:off x="1303244" y="512100"/>
              <a:ext cx="7391700" cy="601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SzPts val="1100"/>
                <a:buNone/>
              </a:pPr>
              <a:r>
                <a:rPr lang="en-US" sz="3200">
                  <a:solidFill>
                    <a:srgbClr val="262626"/>
                  </a:solidFill>
                  <a:latin typeface="Times New Roman" panose="02020603050405020304"/>
                  <a:ea typeface="Times New Roman" panose="02020603050405020304"/>
                  <a:cs typeface="Times New Roman" panose="02020603050405020304"/>
                  <a:sym typeface="Times New Roman" panose="02020603050405020304"/>
                </a:rPr>
                <a:t>Justification for H4</a:t>
              </a:r>
              <a:endParaRPr sz="3200">
                <a:solidFill>
                  <a:srgbClr val="262626"/>
                </a:solidFill>
                <a:latin typeface="Arial" panose="020B0604020202020204"/>
                <a:ea typeface="Arial" panose="020B0604020202020204"/>
                <a:cs typeface="Arial" panose="020B0604020202020204"/>
                <a:sym typeface="Arial" panose="020B0604020202020204"/>
              </a:endParaRPr>
            </a:p>
          </p:txBody>
        </p:sp>
        <p:sp>
          <p:nvSpPr>
            <p:cNvPr id="236" name="Google Shape;236;g2cd2bbb7c26_1_78"/>
            <p:cNvSpPr/>
            <p:nvPr/>
          </p:nvSpPr>
          <p:spPr>
            <a:xfrm>
              <a:off x="1303244" y="926159"/>
              <a:ext cx="3374700" cy="261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grpSp>
      <p:sp>
        <p:nvSpPr>
          <p:cNvPr id="237" name="Google Shape;237;g2cd2bbb7c26_1_78"/>
          <p:cNvSpPr txBox="1"/>
          <p:nvPr/>
        </p:nvSpPr>
        <p:spPr>
          <a:xfrm>
            <a:off x="2147650" y="3387775"/>
            <a:ext cx="3503100" cy="4311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US" sz="1600" b="1">
                <a:solidFill>
                  <a:schemeClr val="dk1"/>
                </a:solidFill>
                <a:latin typeface="Times New Roman" panose="02020603050405020304"/>
                <a:ea typeface="Times New Roman" panose="02020603050405020304"/>
                <a:cs typeface="Times New Roman" panose="02020603050405020304"/>
                <a:sym typeface="Times New Roman" panose="02020603050405020304"/>
              </a:rPr>
              <a:t>“Nickname” lipstick naming style</a:t>
            </a:r>
            <a:endParaRPr sz="2800">
              <a:solidFill>
                <a:schemeClr val="dk1"/>
              </a:solidFill>
            </a:endParaRPr>
          </a:p>
        </p:txBody>
      </p:sp>
      <p:cxnSp>
        <p:nvCxnSpPr>
          <p:cNvPr id="238" name="Google Shape;238;g2cd2bbb7c26_1_78"/>
          <p:cNvCxnSpPr>
            <a:stCxn id="233" idx="3"/>
            <a:endCxn id="239" idx="1"/>
          </p:cNvCxnSpPr>
          <p:nvPr/>
        </p:nvCxnSpPr>
        <p:spPr>
          <a:xfrm rot="10800000" flipH="1">
            <a:off x="5305150" y="3608788"/>
            <a:ext cx="1739100" cy="9900"/>
          </a:xfrm>
          <a:prstGeom prst="straightConnector1">
            <a:avLst/>
          </a:prstGeom>
          <a:noFill/>
          <a:ln w="9525" cap="flat" cmpd="sng">
            <a:solidFill>
              <a:schemeClr val="dk2"/>
            </a:solidFill>
            <a:prstDash val="solid"/>
            <a:round/>
            <a:headEnd type="none" w="med" len="med"/>
            <a:tailEnd type="triangle" w="med" len="med"/>
          </a:ln>
        </p:spPr>
      </p:cxnSp>
      <p:sp>
        <p:nvSpPr>
          <p:cNvPr id="240" name="Google Shape;240;g2cd2bbb7c26_1_78"/>
          <p:cNvSpPr txBox="1"/>
          <p:nvPr/>
        </p:nvSpPr>
        <p:spPr>
          <a:xfrm>
            <a:off x="4195225" y="1379813"/>
            <a:ext cx="3503100" cy="677100"/>
          </a:xfrm>
          <a:prstGeom prst="rect">
            <a:avLst/>
          </a:prstGeom>
          <a:noFill/>
          <a:ln>
            <a:noFill/>
          </a:ln>
        </p:spPr>
        <p:txBody>
          <a:bodyPr spcFirstLastPara="1" wrap="square" lIns="91425" tIns="91425" rIns="91425" bIns="91425" anchor="t" anchorCtr="0">
            <a:spAutoFit/>
          </a:bodyPr>
          <a:lstStyle/>
          <a:p>
            <a:pPr marL="0" lvl="0" indent="0" algn="just" rtl="0">
              <a:lnSpc>
                <a:spcPct val="100000"/>
              </a:lnSpc>
              <a:spcBef>
                <a:spcPts val="0"/>
              </a:spcBef>
              <a:spcAft>
                <a:spcPts val="0"/>
              </a:spcAft>
              <a:buNone/>
            </a:pPr>
            <a:r>
              <a:rPr lang="en-US" sz="1600" b="1">
                <a:solidFill>
                  <a:schemeClr val="dk1"/>
                </a:solidFill>
                <a:latin typeface="Times New Roman" panose="02020603050405020304"/>
                <a:ea typeface="Times New Roman" panose="02020603050405020304"/>
                <a:cs typeface="Times New Roman" panose="02020603050405020304"/>
                <a:sym typeface="Times New Roman" panose="02020603050405020304"/>
              </a:rPr>
              <a:t>The uniqueness of the product as perceived by the consumer</a:t>
            </a:r>
            <a:endParaRPr>
              <a:solidFill>
                <a:schemeClr val="dk1"/>
              </a:solidFill>
            </a:endParaRPr>
          </a:p>
        </p:txBody>
      </p:sp>
      <p:sp>
        <p:nvSpPr>
          <p:cNvPr id="241" name="Google Shape;241;g2cd2bbb7c26_1_78"/>
          <p:cNvSpPr txBox="1"/>
          <p:nvPr/>
        </p:nvSpPr>
        <p:spPr>
          <a:xfrm>
            <a:off x="1618750" y="4656375"/>
            <a:ext cx="8495700" cy="15393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US" sz="22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H4: “Nickname” style lipstick naming affects consumer purchase intention by the uniqueness of the product as perceived by the consumer.</a:t>
            </a:r>
            <a:endParaRPr sz="22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2" name="Google Shape;242;g2cd2bbb7c26_1_78"/>
          <p:cNvSpPr txBox="1"/>
          <p:nvPr/>
        </p:nvSpPr>
        <p:spPr>
          <a:xfrm>
            <a:off x="7044350" y="3314950"/>
            <a:ext cx="2553300" cy="615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sp>
        <p:nvSpPr>
          <p:cNvPr id="239" name="Google Shape;239;g2cd2bbb7c26_1_78"/>
          <p:cNvSpPr txBox="1"/>
          <p:nvPr/>
        </p:nvSpPr>
        <p:spPr>
          <a:xfrm>
            <a:off x="7044350" y="3400900"/>
            <a:ext cx="3000000" cy="4155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US" sz="1500" b="1">
                <a:solidFill>
                  <a:schemeClr val="dk1"/>
                </a:solidFill>
                <a:latin typeface="Times New Roman" panose="02020603050405020304"/>
                <a:ea typeface="Times New Roman" panose="02020603050405020304"/>
                <a:cs typeface="Times New Roman" panose="02020603050405020304"/>
                <a:sym typeface="Times New Roman" panose="02020603050405020304"/>
              </a:rPr>
              <a:t>Consumer purchase intention</a:t>
            </a:r>
            <a:endParaRPr>
              <a:solidFill>
                <a:schemeClr val="dk1"/>
              </a:solidFill>
            </a:endParaRPr>
          </a:p>
        </p:txBody>
      </p:sp>
      <p:cxnSp>
        <p:nvCxnSpPr>
          <p:cNvPr id="243" name="Google Shape;243;g2cd2bbb7c26_1_78"/>
          <p:cNvCxnSpPr/>
          <p:nvPr/>
        </p:nvCxnSpPr>
        <p:spPr>
          <a:xfrm rot="10800000" flipH="1">
            <a:off x="3239200" y="1733663"/>
            <a:ext cx="974400" cy="1566000"/>
          </a:xfrm>
          <a:prstGeom prst="straightConnector1">
            <a:avLst/>
          </a:prstGeom>
          <a:noFill/>
          <a:ln w="9525" cap="flat" cmpd="sng">
            <a:solidFill>
              <a:schemeClr val="dk2"/>
            </a:solidFill>
            <a:prstDash val="solid"/>
            <a:round/>
            <a:headEnd type="none" w="med" len="med"/>
            <a:tailEnd type="triangle" w="med" len="med"/>
          </a:ln>
        </p:spPr>
      </p:cxnSp>
      <p:cxnSp>
        <p:nvCxnSpPr>
          <p:cNvPr id="244" name="Google Shape;244;g2cd2bbb7c26_1_78"/>
          <p:cNvCxnSpPr>
            <a:stCxn id="240" idx="3"/>
            <a:endCxn id="242" idx="0"/>
          </p:cNvCxnSpPr>
          <p:nvPr/>
        </p:nvCxnSpPr>
        <p:spPr>
          <a:xfrm>
            <a:off x="7698325" y="1718363"/>
            <a:ext cx="622800" cy="1596600"/>
          </a:xfrm>
          <a:prstGeom prst="straightConnector1">
            <a:avLst/>
          </a:prstGeom>
          <a:noFill/>
          <a:ln w="9525" cap="flat" cmpd="sng">
            <a:solidFill>
              <a:schemeClr val="dk2"/>
            </a:solidFill>
            <a:prstDash val="solid"/>
            <a:round/>
            <a:headEnd type="none" w="med" len="med"/>
            <a:tailEnd type="triangle" w="med" len="med"/>
          </a:ln>
        </p:spPr>
      </p:cxnSp>
      <p:sp>
        <p:nvSpPr>
          <p:cNvPr id="245" name="Google Shape;245;g2cd2bbb7c26_1_78"/>
          <p:cNvSpPr txBox="1"/>
          <p:nvPr/>
        </p:nvSpPr>
        <p:spPr>
          <a:xfrm>
            <a:off x="8313475" y="1973525"/>
            <a:ext cx="3897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49" name="Shape 249"/>
        <p:cNvGrpSpPr/>
        <p:nvPr/>
      </p:nvGrpSpPr>
      <p:grpSpPr>
        <a:xfrm>
          <a:off x="0" y="0"/>
          <a:ext cx="0" cy="0"/>
          <a:chOff x="0" y="0"/>
          <a:chExt cx="0" cy="0"/>
        </a:xfrm>
      </p:grpSpPr>
      <p:sp>
        <p:nvSpPr>
          <p:cNvPr id="250" name="Google Shape;250;g2cd6ac163fd_0_0"/>
          <p:cNvSpPr txBox="1"/>
          <p:nvPr>
            <p:ph type="body" idx="2"/>
          </p:nvPr>
        </p:nvSpPr>
        <p:spPr>
          <a:xfrm>
            <a:off x="2069850" y="2077175"/>
            <a:ext cx="8052300" cy="970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4800"/>
              <a:buFont typeface="Arial" panose="020B0604020202020204"/>
              <a:buNone/>
            </a:pPr>
            <a:r>
              <a:rPr lang="en-US" sz="5300" b="1">
                <a:solidFill>
                  <a:srgbClr val="262626"/>
                </a:solidFill>
                <a:latin typeface="Times New Roman" panose="02020603050405020304"/>
                <a:ea typeface="Times New Roman" panose="02020603050405020304"/>
                <a:cs typeface="Times New Roman" panose="02020603050405020304"/>
                <a:sym typeface="Times New Roman" panose="02020603050405020304"/>
              </a:rPr>
              <a:t>04</a:t>
            </a:r>
            <a:r>
              <a:rPr lang="en-US" sz="5300" b="1">
                <a:solidFill>
                  <a:srgbClr val="262626"/>
                </a:solidFill>
                <a:latin typeface="Calibri" panose="020F0502020204030204"/>
                <a:ea typeface="Calibri" panose="020F0502020204030204"/>
                <a:cs typeface="Calibri" panose="020F0502020204030204"/>
                <a:sym typeface="Calibri" panose="020F0502020204030204"/>
              </a:rPr>
              <a:t> </a:t>
            </a:r>
            <a:r>
              <a:rPr lang="en-US" sz="5300" b="1">
                <a:solidFill>
                  <a:srgbClr val="262626"/>
                </a:solidFill>
                <a:latin typeface="Calibri" panose="020F0502020204030204"/>
                <a:ea typeface="Calibri" panose="020F0502020204030204"/>
                <a:cs typeface="Calibri" panose="020F0502020204030204"/>
                <a:sym typeface="Calibri" panose="020F0502020204030204"/>
              </a:rPr>
              <a:t> </a:t>
            </a:r>
            <a:r>
              <a:rPr lang="en-US" sz="5300" b="1">
                <a:solidFill>
                  <a:srgbClr val="262626"/>
                </a:solidFill>
                <a:latin typeface="Times New Roman" panose="02020603050405020304"/>
                <a:ea typeface="Times New Roman" panose="02020603050405020304"/>
                <a:cs typeface="Times New Roman" panose="02020603050405020304"/>
                <a:sym typeface="Times New Roman" panose="02020603050405020304"/>
              </a:rPr>
              <a:t> Method</a:t>
            </a:r>
            <a:endParaRPr sz="5300"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0"/>
              </a:spcBef>
              <a:spcAft>
                <a:spcPts val="0"/>
              </a:spcAft>
              <a:buClr>
                <a:srgbClr val="262626"/>
              </a:buClr>
              <a:buSzPts val="4800"/>
              <a:buFont typeface="Arial" panose="020B0604020202020204"/>
              <a:buNone/>
            </a:pPr>
            <a:endParaRPr sz="5300" b="1">
              <a:solidFill>
                <a:srgbClr val="262626"/>
              </a:solidFill>
              <a:latin typeface="Calibri" panose="020F0502020204030204"/>
              <a:ea typeface="Calibri" panose="020F0502020204030204"/>
              <a:cs typeface="Calibri" panose="020F0502020204030204"/>
              <a:sym typeface="Calibri" panose="020F0502020204030204"/>
            </a:endParaRPr>
          </a:p>
        </p:txBody>
      </p:sp>
      <p:cxnSp>
        <p:nvCxnSpPr>
          <p:cNvPr id="251" name="Google Shape;251;g2cd6ac163fd_0_0"/>
          <p:cNvCxnSpPr/>
          <p:nvPr/>
        </p:nvCxnSpPr>
        <p:spPr>
          <a:xfrm>
            <a:off x="5849288" y="2562575"/>
            <a:ext cx="1305000" cy="0"/>
          </a:xfrm>
          <a:prstGeom prst="straightConnector1">
            <a:avLst/>
          </a:prstGeom>
          <a:noFill/>
          <a:ln w="28575" cap="flat" cmpd="sng">
            <a:solidFill>
              <a:schemeClr val="accent1"/>
            </a:solidFill>
            <a:prstDash val="solid"/>
            <a:miter lim="800000"/>
            <a:headEnd type="none" w="sm" len="sm"/>
            <a:tailEnd type="none"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55" name="Shape 255"/>
        <p:cNvGrpSpPr/>
        <p:nvPr/>
      </p:nvGrpSpPr>
      <p:grpSpPr>
        <a:xfrm>
          <a:off x="0" y="0"/>
          <a:ext cx="0" cy="0"/>
          <a:chOff x="0" y="0"/>
          <a:chExt cx="0" cy="0"/>
        </a:xfrm>
      </p:grpSpPr>
      <p:grpSp>
        <p:nvGrpSpPr>
          <p:cNvPr id="256" name="Google Shape;256;p13"/>
          <p:cNvGrpSpPr/>
          <p:nvPr/>
        </p:nvGrpSpPr>
        <p:grpSpPr>
          <a:xfrm>
            <a:off x="1532602" y="246415"/>
            <a:ext cx="7391612" cy="768544"/>
            <a:chOff x="1303244" y="419225"/>
            <a:chExt cx="7391612" cy="768544"/>
          </a:xfrm>
        </p:grpSpPr>
        <p:sp>
          <p:nvSpPr>
            <p:cNvPr id="257" name="Google Shape;257;p13"/>
            <p:cNvSpPr txBox="1"/>
            <p:nvPr/>
          </p:nvSpPr>
          <p:spPr>
            <a:xfrm>
              <a:off x="1303244" y="419225"/>
              <a:ext cx="7391612" cy="601663"/>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None/>
              </a:pPr>
              <a:r>
                <a:rPr lang="en-US" sz="3200">
                  <a:solidFill>
                    <a:srgbClr val="262626"/>
                  </a:solidFill>
                </a:rPr>
                <a:t>Sampling </a:t>
              </a:r>
              <a:endParaRPr sz="3200">
                <a:solidFill>
                  <a:srgbClr val="262626"/>
                </a:solidFill>
                <a:latin typeface="Arial" panose="020B0604020202020204"/>
                <a:ea typeface="Arial" panose="020B0604020202020204"/>
                <a:cs typeface="Arial" panose="020B0604020202020204"/>
                <a:sym typeface="Arial" panose="020B0604020202020204"/>
              </a:endParaRPr>
            </a:p>
          </p:txBody>
        </p:sp>
        <p:sp>
          <p:nvSpPr>
            <p:cNvPr id="258" name="Google Shape;258;p13"/>
            <p:cNvSpPr/>
            <p:nvPr/>
          </p:nvSpPr>
          <p:spPr>
            <a:xfrm>
              <a:off x="1303244" y="926159"/>
              <a:ext cx="3374625"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grpSp>
      <p:sp>
        <p:nvSpPr>
          <p:cNvPr id="259" name="Google Shape;259;p13"/>
          <p:cNvSpPr/>
          <p:nvPr/>
        </p:nvSpPr>
        <p:spPr>
          <a:xfrm>
            <a:off x="732175" y="1502638"/>
            <a:ext cx="3185100" cy="14745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56777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0" name="Google Shape;260;p13"/>
          <p:cNvSpPr/>
          <p:nvPr/>
        </p:nvSpPr>
        <p:spPr>
          <a:xfrm>
            <a:off x="750500" y="3799900"/>
            <a:ext cx="3185100" cy="14745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56777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1" name="Google Shape;261;p13"/>
          <p:cNvSpPr txBox="1"/>
          <p:nvPr/>
        </p:nvSpPr>
        <p:spPr>
          <a:xfrm>
            <a:off x="964075" y="1946475"/>
            <a:ext cx="2721300" cy="68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100">
                <a:solidFill>
                  <a:schemeClr val="dk1"/>
                </a:solidFill>
              </a:rPr>
              <a:t>Purposive Sampling</a:t>
            </a:r>
            <a:endParaRPr sz="2100">
              <a:solidFill>
                <a:schemeClr val="dk1"/>
              </a:solidFill>
            </a:endParaRPr>
          </a:p>
        </p:txBody>
      </p:sp>
      <p:sp>
        <p:nvSpPr>
          <p:cNvPr id="262" name="Google Shape;262;p13"/>
          <p:cNvSpPr txBox="1"/>
          <p:nvPr/>
        </p:nvSpPr>
        <p:spPr>
          <a:xfrm>
            <a:off x="4685900" y="3866050"/>
            <a:ext cx="4222200" cy="2707800"/>
          </a:xfrm>
          <a:prstGeom prst="rect">
            <a:avLst/>
          </a:prstGeom>
          <a:noFill/>
          <a:ln>
            <a:noFill/>
          </a:ln>
        </p:spPr>
        <p:txBody>
          <a:bodyPr spcFirstLastPara="1" wrap="square" lIns="91425" tIns="91425" rIns="91425" bIns="91425" anchor="t" anchorCtr="0">
            <a:noAutofit/>
          </a:bodyPr>
          <a:lstStyle/>
          <a:p>
            <a:pPr marL="457200" lvl="0" indent="-349250" algn="l" rtl="0">
              <a:spcBef>
                <a:spcPts val="0"/>
              </a:spcBef>
              <a:spcAft>
                <a:spcPts val="0"/>
              </a:spcAft>
              <a:buClr>
                <a:schemeClr val="dk1"/>
              </a:buClr>
              <a:buSzPts val="1900"/>
              <a:buChar char="➔"/>
            </a:pPr>
            <a:r>
              <a:rPr lang="en-US" sz="1900">
                <a:solidFill>
                  <a:schemeClr val="dk1"/>
                </a:solidFill>
              </a:rPr>
              <a:t>200 questionnaires </a:t>
            </a:r>
            <a:endParaRPr sz="1900">
              <a:solidFill>
                <a:schemeClr val="dk1"/>
              </a:solidFill>
            </a:endParaRPr>
          </a:p>
          <a:p>
            <a:pPr marL="457200" lvl="0" indent="-349250" algn="l" rtl="0">
              <a:spcBef>
                <a:spcPts val="0"/>
              </a:spcBef>
              <a:spcAft>
                <a:spcPts val="0"/>
              </a:spcAft>
              <a:buClr>
                <a:schemeClr val="dk1"/>
              </a:buClr>
              <a:buSzPts val="1900"/>
              <a:buChar char="➔"/>
            </a:pPr>
            <a:r>
              <a:rPr lang="en-US" sz="1900">
                <a:solidFill>
                  <a:schemeClr val="dk1"/>
                </a:solidFill>
              </a:rPr>
              <a:t>Age group of 20-39 years old</a:t>
            </a:r>
            <a:endParaRPr sz="1900">
              <a:solidFill>
                <a:schemeClr val="dk1"/>
              </a:solidFill>
            </a:endParaRPr>
          </a:p>
          <a:p>
            <a:pPr marL="457200" lvl="0" indent="-349250" algn="l" rtl="0">
              <a:spcBef>
                <a:spcPts val="0"/>
              </a:spcBef>
              <a:spcAft>
                <a:spcPts val="0"/>
              </a:spcAft>
              <a:buClr>
                <a:schemeClr val="dk1"/>
              </a:buClr>
              <a:buSzPts val="1900"/>
              <a:buChar char="➔"/>
            </a:pPr>
            <a:r>
              <a:rPr lang="en-US" sz="1900">
                <a:solidFill>
                  <a:schemeClr val="dk1"/>
                </a:solidFill>
              </a:rPr>
              <a:t>Frequency of using lipstick as occasional, frequent, and daily.</a:t>
            </a:r>
            <a:endParaRPr sz="1900">
              <a:solidFill>
                <a:schemeClr val="dk1"/>
              </a:solidFill>
            </a:endParaRPr>
          </a:p>
        </p:txBody>
      </p:sp>
      <p:sp>
        <p:nvSpPr>
          <p:cNvPr id="263" name="Google Shape;263;p13"/>
          <p:cNvSpPr txBox="1"/>
          <p:nvPr/>
        </p:nvSpPr>
        <p:spPr>
          <a:xfrm>
            <a:off x="4685900" y="1305700"/>
            <a:ext cx="4869000" cy="1732800"/>
          </a:xfrm>
          <a:prstGeom prst="rect">
            <a:avLst/>
          </a:prstGeom>
          <a:noFill/>
          <a:ln>
            <a:noFill/>
          </a:ln>
        </p:spPr>
        <p:txBody>
          <a:bodyPr spcFirstLastPara="1" wrap="square" lIns="91425" tIns="91425" rIns="91425" bIns="91425" anchor="t" anchorCtr="0">
            <a:noAutofit/>
          </a:bodyPr>
          <a:lstStyle/>
          <a:p>
            <a:pPr marL="457200" lvl="0" indent="-349250" algn="l" rtl="0">
              <a:spcBef>
                <a:spcPts val="0"/>
              </a:spcBef>
              <a:spcAft>
                <a:spcPts val="0"/>
              </a:spcAft>
              <a:buClr>
                <a:schemeClr val="dk1"/>
              </a:buClr>
              <a:buSzPts val="1900"/>
              <a:buChar char="➔"/>
            </a:pPr>
            <a:r>
              <a:rPr lang="en-US" sz="1900">
                <a:solidFill>
                  <a:schemeClr val="dk1"/>
                </a:solidFill>
              </a:rPr>
              <a:t>Targeted selection of samples</a:t>
            </a:r>
            <a:endParaRPr sz="1900">
              <a:solidFill>
                <a:schemeClr val="dk1"/>
              </a:solidFill>
            </a:endParaRPr>
          </a:p>
          <a:p>
            <a:pPr marL="457200" lvl="0" indent="-349250" algn="l" rtl="0">
              <a:spcBef>
                <a:spcPts val="0"/>
              </a:spcBef>
              <a:spcAft>
                <a:spcPts val="0"/>
              </a:spcAft>
              <a:buClr>
                <a:schemeClr val="dk1"/>
              </a:buClr>
              <a:buSzPts val="1900"/>
              <a:buChar char="➔"/>
            </a:pPr>
            <a:r>
              <a:rPr lang="en-US" sz="1900">
                <a:solidFill>
                  <a:schemeClr val="dk1"/>
                </a:solidFill>
              </a:rPr>
              <a:t>Control the size</a:t>
            </a:r>
            <a:endParaRPr sz="1900">
              <a:solidFill>
                <a:schemeClr val="dk1"/>
              </a:solidFill>
            </a:endParaRPr>
          </a:p>
          <a:p>
            <a:pPr marL="457200" lvl="0" indent="-349250" algn="l" rtl="0">
              <a:spcBef>
                <a:spcPts val="0"/>
              </a:spcBef>
              <a:spcAft>
                <a:spcPts val="0"/>
              </a:spcAft>
              <a:buClr>
                <a:schemeClr val="dk1"/>
              </a:buClr>
              <a:buSzPts val="1900"/>
              <a:buChar char="➔"/>
            </a:pPr>
            <a:r>
              <a:rPr lang="en-US" sz="1900">
                <a:solidFill>
                  <a:schemeClr val="dk1"/>
                </a:solidFill>
              </a:rPr>
              <a:t>Representative</a:t>
            </a:r>
            <a:endParaRPr sz="1900">
              <a:solidFill>
                <a:schemeClr val="dk1"/>
              </a:solidFill>
            </a:endParaRPr>
          </a:p>
          <a:p>
            <a:pPr marL="457200" lvl="0" indent="-349250" algn="l" rtl="0">
              <a:spcBef>
                <a:spcPts val="0"/>
              </a:spcBef>
              <a:spcAft>
                <a:spcPts val="0"/>
              </a:spcAft>
              <a:buClr>
                <a:schemeClr val="dk1"/>
              </a:buClr>
              <a:buSzPts val="1900"/>
              <a:buChar char="➔"/>
            </a:pPr>
            <a:r>
              <a:rPr lang="en-US" sz="1900">
                <a:solidFill>
                  <a:schemeClr val="dk1"/>
                </a:solidFill>
              </a:rPr>
              <a:t>More efficient and economical</a:t>
            </a:r>
            <a:endParaRPr sz="1900">
              <a:solidFill>
                <a:schemeClr val="dk1"/>
              </a:solidFill>
            </a:endParaRPr>
          </a:p>
        </p:txBody>
      </p:sp>
      <p:sp>
        <p:nvSpPr>
          <p:cNvPr id="264" name="Google Shape;264;p13"/>
          <p:cNvSpPr txBox="1"/>
          <p:nvPr/>
        </p:nvSpPr>
        <p:spPr>
          <a:xfrm>
            <a:off x="879650" y="4283200"/>
            <a:ext cx="3000000" cy="507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100"/>
              <a:t> </a:t>
            </a:r>
            <a:r>
              <a:rPr lang="en-US" sz="2100"/>
              <a:t>Q</a:t>
            </a:r>
            <a:r>
              <a:rPr lang="en-US" sz="2100"/>
              <a:t>uestionnaire</a:t>
            </a:r>
            <a:endParaRPr sz="2100"/>
          </a:p>
        </p:txBody>
      </p:sp>
      <p:pic>
        <p:nvPicPr>
          <p:cNvPr id="265" name="Google Shape;265;p13"/>
          <p:cNvPicPr preferRelativeResize="0"/>
          <p:nvPr/>
        </p:nvPicPr>
        <p:blipFill rotWithShape="1">
          <a:blip r:embed="rId1"/>
          <a:srcRect l="11606" b="6463"/>
          <a:stretch>
            <a:fillRect/>
          </a:stretch>
        </p:blipFill>
        <p:spPr>
          <a:xfrm>
            <a:off x="8735350" y="1305700"/>
            <a:ext cx="3805350" cy="40269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grpSp>
        <p:nvGrpSpPr>
          <p:cNvPr id="270" name="Google Shape;270;p14"/>
          <p:cNvGrpSpPr/>
          <p:nvPr/>
        </p:nvGrpSpPr>
        <p:grpSpPr>
          <a:xfrm>
            <a:off x="1532602" y="246415"/>
            <a:ext cx="7391612" cy="768544"/>
            <a:chOff x="1303244" y="419225"/>
            <a:chExt cx="7391612" cy="768544"/>
          </a:xfrm>
        </p:grpSpPr>
        <p:sp>
          <p:nvSpPr>
            <p:cNvPr id="271" name="Google Shape;271;p14"/>
            <p:cNvSpPr txBox="1"/>
            <p:nvPr/>
          </p:nvSpPr>
          <p:spPr>
            <a:xfrm>
              <a:off x="1303244" y="419225"/>
              <a:ext cx="7391612" cy="601663"/>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None/>
              </a:pPr>
              <a:r>
                <a:rPr lang="en-US" sz="3200" b="1">
                  <a:solidFill>
                    <a:srgbClr val="262626"/>
                  </a:solidFill>
                  <a:latin typeface="Times New Roman" panose="02020603050405020304"/>
                  <a:ea typeface="Times New Roman" panose="02020603050405020304"/>
                  <a:cs typeface="Times New Roman" panose="02020603050405020304"/>
                  <a:sym typeface="Times New Roman" panose="02020603050405020304"/>
                </a:rPr>
                <a:t>Research Method:Experiment</a:t>
              </a:r>
              <a:endParaRPr sz="3200"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2" name="Google Shape;272;p14"/>
            <p:cNvSpPr/>
            <p:nvPr/>
          </p:nvSpPr>
          <p:spPr>
            <a:xfrm>
              <a:off x="1303244" y="926159"/>
              <a:ext cx="3374625"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accent2"/>
                  </a:solidFill>
                  <a:latin typeface="Arial" panose="020B0604020202020204"/>
                  <a:ea typeface="Arial" panose="020B0604020202020204"/>
                  <a:cs typeface="Arial" panose="020B0604020202020204"/>
                  <a:sym typeface="Arial" panose="020B0604020202020204"/>
                </a:rPr>
                <a:t>,</a:t>
              </a:r>
              <a:endParaRPr sz="1100">
                <a:solidFill>
                  <a:schemeClr val="accent2"/>
                </a:solidFill>
                <a:latin typeface="Arial" panose="020B0604020202020204"/>
                <a:ea typeface="Arial" panose="020B0604020202020204"/>
                <a:cs typeface="Arial" panose="020B0604020202020204"/>
                <a:sym typeface="Arial" panose="020B0604020202020204"/>
              </a:endParaRPr>
            </a:p>
          </p:txBody>
        </p:sp>
      </p:grpSp>
      <p:sp>
        <p:nvSpPr>
          <p:cNvPr id="273" name="Google Shape;273;p14"/>
          <p:cNvSpPr/>
          <p:nvPr/>
        </p:nvSpPr>
        <p:spPr>
          <a:xfrm>
            <a:off x="1544475" y="1960225"/>
            <a:ext cx="1866300" cy="18663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56777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4" name="Google Shape;274;p14"/>
          <p:cNvSpPr txBox="1"/>
          <p:nvPr/>
        </p:nvSpPr>
        <p:spPr>
          <a:xfrm>
            <a:off x="1645875" y="2851477"/>
            <a:ext cx="1866300" cy="378900"/>
          </a:xfrm>
          <a:prstGeom prst="rect">
            <a:avLst/>
          </a:prstGeom>
          <a:noFill/>
          <a:ln>
            <a:noFill/>
          </a:ln>
        </p:spPr>
        <p:txBody>
          <a:bodyPr spcFirstLastPara="1" wrap="square" lIns="91425" tIns="45700" rIns="91425" bIns="45700" anchor="b" anchorCtr="0">
            <a:noAutofit/>
          </a:bodyPr>
          <a:lstStyle/>
          <a:p>
            <a:pPr marL="0" lvl="0" indent="0" algn="just" rtl="0">
              <a:spcBef>
                <a:spcPts val="0"/>
              </a:spcBef>
              <a:spcAft>
                <a:spcPts val="0"/>
              </a:spcAft>
              <a:buSzPts val="1100"/>
              <a:buNone/>
            </a:pP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Control</a:t>
            </a:r>
            <a:endParaRPr sz="22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SzPts val="1100"/>
              <a:buNone/>
            </a:pP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Group </a:t>
            </a:r>
            <a:endParaRPr sz="2200" b="1">
              <a:solidFill>
                <a:schemeClr val="lt1"/>
              </a:solidFill>
              <a:latin typeface="Arial" panose="020B0604020202020204"/>
              <a:ea typeface="Arial" panose="020B0604020202020204"/>
              <a:cs typeface="Arial" panose="020B0604020202020204"/>
              <a:sym typeface="Arial" panose="020B0604020202020204"/>
            </a:endParaRPr>
          </a:p>
        </p:txBody>
      </p:sp>
      <p:sp>
        <p:nvSpPr>
          <p:cNvPr id="275" name="Google Shape;275;p14"/>
          <p:cNvSpPr/>
          <p:nvPr/>
        </p:nvSpPr>
        <p:spPr>
          <a:xfrm>
            <a:off x="4932025" y="2429575"/>
            <a:ext cx="2244300" cy="9993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76" name="Google Shape;276;p14"/>
          <p:cNvSpPr txBox="1"/>
          <p:nvPr/>
        </p:nvSpPr>
        <p:spPr>
          <a:xfrm>
            <a:off x="265161" y="3390964"/>
            <a:ext cx="2069100" cy="810600"/>
          </a:xfrm>
          <a:prstGeom prst="rect">
            <a:avLst/>
          </a:prstGeom>
          <a:noFill/>
          <a:ln>
            <a:noFill/>
          </a:ln>
        </p:spPr>
        <p:txBody>
          <a:bodyPr spcFirstLastPara="1" wrap="square" lIns="90000" tIns="46800" rIns="90000" bIns="46800" anchor="t" anchorCtr="0">
            <a:normAutofit/>
          </a:bodyPr>
          <a:lstStyle/>
          <a:p>
            <a:pPr marL="0" marR="0" lvl="0" indent="0" algn="r" rtl="0">
              <a:spcBef>
                <a:spcPts val="0"/>
              </a:spcBef>
              <a:spcAft>
                <a:spcPts val="0"/>
              </a:spcAft>
              <a:buNone/>
            </a:pPr>
            <a:endParaRPr sz="1050">
              <a:solidFill>
                <a:schemeClr val="dk1"/>
              </a:solidFill>
              <a:latin typeface="Arial" panose="020B0604020202020204"/>
              <a:ea typeface="Arial" panose="020B0604020202020204"/>
              <a:cs typeface="Arial" panose="020B0604020202020204"/>
              <a:sym typeface="Arial" panose="020B0604020202020204"/>
            </a:endParaRPr>
          </a:p>
        </p:txBody>
      </p:sp>
      <p:sp>
        <p:nvSpPr>
          <p:cNvPr id="277" name="Google Shape;277;p14"/>
          <p:cNvSpPr/>
          <p:nvPr/>
        </p:nvSpPr>
        <p:spPr>
          <a:xfrm>
            <a:off x="1595176" y="4589575"/>
            <a:ext cx="1764900" cy="16998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80808"/>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8" name="Google Shape;278;p14"/>
          <p:cNvSpPr txBox="1"/>
          <p:nvPr/>
        </p:nvSpPr>
        <p:spPr>
          <a:xfrm>
            <a:off x="1595175" y="5008525"/>
            <a:ext cx="9541500" cy="861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Clr>
                <a:schemeClr val="dk1"/>
              </a:buClr>
              <a:buSzPts val="1100"/>
              <a:buFont typeface="Arial" panose="020B0604020202020204"/>
              <a:buNone/>
            </a:pP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Experimental </a:t>
            </a:r>
            <a:endParaRPr sz="22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Group</a:t>
            </a:r>
            <a:endParaRPr sz="22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9" name="Google Shape;279;p14"/>
          <p:cNvSpPr/>
          <p:nvPr/>
        </p:nvSpPr>
        <p:spPr>
          <a:xfrm>
            <a:off x="4799500" y="4980600"/>
            <a:ext cx="2376900" cy="10932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280" name="Google Shape;280;p14"/>
          <p:cNvSpPr txBox="1"/>
          <p:nvPr/>
        </p:nvSpPr>
        <p:spPr>
          <a:xfrm>
            <a:off x="4934175" y="2429575"/>
            <a:ext cx="2582100" cy="11703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just"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n</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ormal </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c</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olor  </a:t>
            </a:r>
            <a:endParaRPr sz="24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Clr>
                <a:schemeClr val="dk1"/>
              </a:buClr>
              <a:buSzPts val="1100"/>
              <a:buFont typeface="Arial" panose="020B0604020202020204"/>
              <a:buNone/>
            </a:pP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t</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ype</a:t>
            </a:r>
            <a:endParaRPr sz="2400">
              <a:solidFill>
                <a:schemeClr val="lt1"/>
              </a:solidFill>
            </a:endParaRPr>
          </a:p>
        </p:txBody>
      </p:sp>
      <p:sp>
        <p:nvSpPr>
          <p:cNvPr id="281" name="Google Shape;281;p14"/>
          <p:cNvSpPr txBox="1"/>
          <p:nvPr/>
        </p:nvSpPr>
        <p:spPr>
          <a:xfrm>
            <a:off x="4793325" y="5135425"/>
            <a:ext cx="2882400" cy="6081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panose="020B0604020202020204"/>
              <a:buNone/>
            </a:pP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celebrities type</a:t>
            </a:r>
            <a:endParaRPr sz="2400">
              <a:solidFill>
                <a:schemeClr val="lt1"/>
              </a:solidFill>
            </a:endParaRPr>
          </a:p>
        </p:txBody>
      </p:sp>
      <p:cxnSp>
        <p:nvCxnSpPr>
          <p:cNvPr id="282" name="Google Shape;282;p14"/>
          <p:cNvCxnSpPr>
            <a:stCxn id="274" idx="3"/>
            <a:endCxn id="280" idx="1"/>
          </p:cNvCxnSpPr>
          <p:nvPr/>
        </p:nvCxnSpPr>
        <p:spPr>
          <a:xfrm rot="10800000" flipH="1">
            <a:off x="3512175" y="3014827"/>
            <a:ext cx="1422000" cy="26100"/>
          </a:xfrm>
          <a:prstGeom prst="straightConnector1">
            <a:avLst/>
          </a:prstGeom>
          <a:noFill/>
          <a:ln w="76200" cap="flat" cmpd="sng">
            <a:solidFill>
              <a:schemeClr val="accent1"/>
            </a:solidFill>
            <a:prstDash val="solid"/>
            <a:round/>
            <a:headEnd type="none" w="med" len="med"/>
            <a:tailEnd type="triangle" w="med" len="med"/>
          </a:ln>
        </p:spPr>
      </p:cxnSp>
      <p:cxnSp>
        <p:nvCxnSpPr>
          <p:cNvPr id="283" name="Google Shape;283;p14"/>
          <p:cNvCxnSpPr>
            <a:endCxn id="281" idx="1"/>
          </p:cNvCxnSpPr>
          <p:nvPr/>
        </p:nvCxnSpPr>
        <p:spPr>
          <a:xfrm rot="10800000" flipH="1">
            <a:off x="3457725" y="5439475"/>
            <a:ext cx="1335600" cy="4800"/>
          </a:xfrm>
          <a:prstGeom prst="straightConnector1">
            <a:avLst/>
          </a:prstGeom>
          <a:noFill/>
          <a:ln w="76200" cap="flat" cmpd="sng">
            <a:solidFill>
              <a:schemeClr val="accent3"/>
            </a:solidFill>
            <a:prstDash val="solid"/>
            <a:round/>
            <a:headEnd type="none" w="med" len="med"/>
            <a:tailEnd type="triangle" w="med" len="med"/>
          </a:ln>
        </p:spPr>
      </p:cxnSp>
      <p:sp>
        <p:nvSpPr>
          <p:cNvPr id="284" name="Google Shape;284;p14"/>
          <p:cNvSpPr txBox="1"/>
          <p:nvPr/>
        </p:nvSpPr>
        <p:spPr>
          <a:xfrm>
            <a:off x="5029463" y="4201475"/>
            <a:ext cx="1938300" cy="37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i="1">
                <a:solidFill>
                  <a:schemeClr val="dk1"/>
                </a:solidFill>
                <a:latin typeface="Times New Roman" panose="02020603050405020304"/>
                <a:ea typeface="Times New Roman" panose="02020603050405020304"/>
                <a:cs typeface="Times New Roman" panose="02020603050405020304"/>
                <a:sym typeface="Times New Roman" panose="02020603050405020304"/>
              </a:rPr>
              <a:t>stimulus</a:t>
            </a:r>
            <a:endParaRPr sz="2800" i="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85" name="Google Shape;285;p14"/>
          <p:cNvCxnSpPr/>
          <p:nvPr/>
        </p:nvCxnSpPr>
        <p:spPr>
          <a:xfrm>
            <a:off x="7176250" y="3026150"/>
            <a:ext cx="1019100" cy="33000"/>
          </a:xfrm>
          <a:prstGeom prst="straightConnector1">
            <a:avLst/>
          </a:prstGeom>
          <a:noFill/>
          <a:ln w="76200" cap="flat" cmpd="sng">
            <a:solidFill>
              <a:schemeClr val="accent1"/>
            </a:solidFill>
            <a:prstDash val="solid"/>
            <a:round/>
            <a:headEnd type="none" w="med" len="med"/>
            <a:tailEnd type="triangle" w="med" len="med"/>
          </a:ln>
        </p:spPr>
      </p:cxnSp>
      <p:cxnSp>
        <p:nvCxnSpPr>
          <p:cNvPr id="286" name="Google Shape;286;p14"/>
          <p:cNvCxnSpPr/>
          <p:nvPr/>
        </p:nvCxnSpPr>
        <p:spPr>
          <a:xfrm rot="10800000" flipH="1">
            <a:off x="7038125" y="5444275"/>
            <a:ext cx="1335600" cy="4800"/>
          </a:xfrm>
          <a:prstGeom prst="straightConnector1">
            <a:avLst/>
          </a:prstGeom>
          <a:noFill/>
          <a:ln w="76200" cap="flat" cmpd="sng">
            <a:solidFill>
              <a:schemeClr val="accent3"/>
            </a:solidFill>
            <a:prstDash val="solid"/>
            <a:round/>
            <a:headEnd type="none" w="med" len="med"/>
            <a:tailEnd type="triangle" w="med" len="med"/>
          </a:ln>
        </p:spPr>
      </p:cxnSp>
      <p:sp>
        <p:nvSpPr>
          <p:cNvPr id="287" name="Google Shape;287;p14"/>
          <p:cNvSpPr txBox="1"/>
          <p:nvPr/>
        </p:nvSpPr>
        <p:spPr>
          <a:xfrm>
            <a:off x="8467025" y="2263900"/>
            <a:ext cx="2992200" cy="169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perception of the uniqueness of different lipsticks, willingness to purchase </a:t>
            </a:r>
            <a:endParaRPr sz="2400">
              <a:solidFill>
                <a:schemeClr val="dk1"/>
              </a:solidFill>
            </a:endParaRPr>
          </a:p>
        </p:txBody>
      </p:sp>
      <p:sp>
        <p:nvSpPr>
          <p:cNvPr id="288" name="Google Shape;288;p14"/>
          <p:cNvSpPr txBox="1"/>
          <p:nvPr/>
        </p:nvSpPr>
        <p:spPr>
          <a:xfrm>
            <a:off x="8586300" y="4589575"/>
            <a:ext cx="2992200" cy="169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perception of the uniqueness of different lipsticks, willingness to purchase </a:t>
            </a:r>
            <a:endParaRPr sz="2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grpSp>
        <p:nvGrpSpPr>
          <p:cNvPr id="293" name="Google Shape;293;p16"/>
          <p:cNvGrpSpPr/>
          <p:nvPr/>
        </p:nvGrpSpPr>
        <p:grpSpPr>
          <a:xfrm>
            <a:off x="1504377" y="312715"/>
            <a:ext cx="7391612" cy="768544"/>
            <a:chOff x="1303244" y="419225"/>
            <a:chExt cx="7391612" cy="768544"/>
          </a:xfrm>
        </p:grpSpPr>
        <p:sp>
          <p:nvSpPr>
            <p:cNvPr id="294" name="Google Shape;294;p16"/>
            <p:cNvSpPr txBox="1"/>
            <p:nvPr/>
          </p:nvSpPr>
          <p:spPr>
            <a:xfrm>
              <a:off x="1303244" y="419225"/>
              <a:ext cx="7391612" cy="601663"/>
            </a:xfrm>
            <a:prstGeom prst="rect">
              <a:avLst/>
            </a:prstGeom>
            <a:noFill/>
            <a:ln>
              <a:noFill/>
            </a:ln>
          </p:spPr>
          <p:txBody>
            <a:bodyPr spcFirstLastPara="1" wrap="square" lIns="91425" tIns="45700" rIns="91425" bIns="45700" anchor="b" anchorCtr="0">
              <a:normAutofit fontScale="32500" lnSpcReduction="20000"/>
            </a:bodyPr>
            <a:lstStyle/>
            <a:p>
              <a:pPr marL="0" lvl="0" indent="0" algn="just" rtl="0">
                <a:spcBef>
                  <a:spcPts val="0"/>
                </a:spcBef>
                <a:spcAft>
                  <a:spcPts val="0"/>
                </a:spcAft>
                <a:buClr>
                  <a:schemeClr val="dk1"/>
                </a:buClr>
                <a:buSzPts val="358"/>
                <a:buFont typeface="Arial" panose="020B0604020202020204"/>
                <a:buNone/>
              </a:pPr>
              <a:r>
                <a:rPr lang="en-US" sz="8930" b="1">
                  <a:solidFill>
                    <a:schemeClr val="dk1"/>
                  </a:solidFill>
                  <a:latin typeface="Times New Roman" panose="02020603050405020304"/>
                  <a:ea typeface="Times New Roman" panose="02020603050405020304"/>
                  <a:cs typeface="Times New Roman" panose="02020603050405020304"/>
                  <a:sym typeface="Times New Roman" panose="02020603050405020304"/>
                </a:rPr>
                <a:t>Measurement Instrument: Questionnaire</a:t>
              </a:r>
              <a:endParaRPr sz="993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None/>
              </a:pPr>
              <a:endParaRPr sz="3200">
                <a:solidFill>
                  <a:srgbClr val="262626"/>
                </a:solidFill>
              </a:endParaRPr>
            </a:p>
          </p:txBody>
        </p:sp>
        <p:sp>
          <p:nvSpPr>
            <p:cNvPr id="295" name="Google Shape;295;p16"/>
            <p:cNvSpPr/>
            <p:nvPr/>
          </p:nvSpPr>
          <p:spPr>
            <a:xfrm>
              <a:off x="1303244" y="926159"/>
              <a:ext cx="3374625"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grpSp>
      <p:sp>
        <p:nvSpPr>
          <p:cNvPr id="296" name="Google Shape;296;p16"/>
          <p:cNvSpPr txBox="1"/>
          <p:nvPr/>
        </p:nvSpPr>
        <p:spPr>
          <a:xfrm>
            <a:off x="1245700" y="1318375"/>
            <a:ext cx="9759000" cy="923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The first part is the </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basic information</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of the participants, including age and frequency of using lipstick.</a:t>
            </a:r>
            <a:endParaRPr sz="2400">
              <a:latin typeface="Times New Roman" panose="02020603050405020304"/>
              <a:ea typeface="Times New Roman" panose="02020603050405020304"/>
              <a:cs typeface="Times New Roman" panose="02020603050405020304"/>
              <a:sym typeface="Times New Roman" panose="02020603050405020304"/>
            </a:endParaRPr>
          </a:p>
        </p:txBody>
      </p:sp>
      <p:pic>
        <p:nvPicPr>
          <p:cNvPr id="297" name="Google Shape;297;p16"/>
          <p:cNvPicPr preferRelativeResize="0"/>
          <p:nvPr/>
        </p:nvPicPr>
        <p:blipFill>
          <a:blip r:embed="rId1"/>
          <a:stretch>
            <a:fillRect/>
          </a:stretch>
        </p:blipFill>
        <p:spPr>
          <a:xfrm>
            <a:off x="2239600" y="2287725"/>
            <a:ext cx="7296150" cy="4400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01" name="Shape 301"/>
        <p:cNvGrpSpPr/>
        <p:nvPr/>
      </p:nvGrpSpPr>
      <p:grpSpPr>
        <a:xfrm>
          <a:off x="0" y="0"/>
          <a:ext cx="0" cy="0"/>
          <a:chOff x="0" y="0"/>
          <a:chExt cx="0" cy="0"/>
        </a:xfrm>
      </p:grpSpPr>
      <p:grpSp>
        <p:nvGrpSpPr>
          <p:cNvPr id="302" name="Google Shape;302;g2cd80d15de2_0_20"/>
          <p:cNvGrpSpPr/>
          <p:nvPr/>
        </p:nvGrpSpPr>
        <p:grpSpPr>
          <a:xfrm>
            <a:off x="1504377" y="312715"/>
            <a:ext cx="7391700" cy="768534"/>
            <a:chOff x="1303244" y="419225"/>
            <a:chExt cx="7391700" cy="768534"/>
          </a:xfrm>
        </p:grpSpPr>
        <p:sp>
          <p:nvSpPr>
            <p:cNvPr id="303" name="Google Shape;303;g2cd80d15de2_0_20"/>
            <p:cNvSpPr txBox="1"/>
            <p:nvPr/>
          </p:nvSpPr>
          <p:spPr>
            <a:xfrm>
              <a:off x="1303244" y="419225"/>
              <a:ext cx="7391700" cy="601800"/>
            </a:xfrm>
            <a:prstGeom prst="rect">
              <a:avLst/>
            </a:prstGeom>
            <a:noFill/>
            <a:ln>
              <a:noFill/>
            </a:ln>
          </p:spPr>
          <p:txBody>
            <a:bodyPr spcFirstLastPara="1" wrap="square" lIns="91425" tIns="45700" rIns="91425" bIns="45700" anchor="b" anchorCtr="0">
              <a:normAutofit fontScale="32500" lnSpcReduction="20000"/>
            </a:bodyPr>
            <a:lstStyle/>
            <a:p>
              <a:pPr marL="0" lvl="0" indent="0" algn="just" rtl="0">
                <a:spcBef>
                  <a:spcPts val="0"/>
                </a:spcBef>
                <a:spcAft>
                  <a:spcPts val="0"/>
                </a:spcAft>
                <a:buSzPts val="358"/>
                <a:buNone/>
              </a:pPr>
              <a:r>
                <a:rPr lang="en-US" sz="8930" b="1">
                  <a:solidFill>
                    <a:schemeClr val="dk1"/>
                  </a:solidFill>
                  <a:latin typeface="Times New Roman" panose="02020603050405020304"/>
                  <a:ea typeface="Times New Roman" panose="02020603050405020304"/>
                  <a:cs typeface="Times New Roman" panose="02020603050405020304"/>
                  <a:sym typeface="Times New Roman" panose="02020603050405020304"/>
                </a:rPr>
                <a:t>Measurement Instrument: Questionnaire</a:t>
              </a:r>
              <a:endParaRPr sz="993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None/>
              </a:pPr>
              <a:endParaRPr sz="3200">
                <a:solidFill>
                  <a:srgbClr val="262626"/>
                </a:solidFill>
              </a:endParaRPr>
            </a:p>
          </p:txBody>
        </p:sp>
        <p:sp>
          <p:nvSpPr>
            <p:cNvPr id="304" name="Google Shape;304;g2cd80d15de2_0_20"/>
            <p:cNvSpPr/>
            <p:nvPr/>
          </p:nvSpPr>
          <p:spPr>
            <a:xfrm>
              <a:off x="1303244" y="926159"/>
              <a:ext cx="3374700" cy="261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grpSp>
      <p:pic>
        <p:nvPicPr>
          <p:cNvPr id="305" name="Google Shape;305;g2cd80d15de2_0_20" descr="点击查看图片来源"/>
          <p:cNvPicPr preferRelativeResize="0"/>
          <p:nvPr/>
        </p:nvPicPr>
        <p:blipFill>
          <a:blip r:embed="rId1"/>
          <a:stretch>
            <a:fillRect/>
          </a:stretch>
        </p:blipFill>
        <p:spPr>
          <a:xfrm>
            <a:off x="551750" y="1455675"/>
            <a:ext cx="5119075" cy="2933850"/>
          </a:xfrm>
          <a:prstGeom prst="rect">
            <a:avLst/>
          </a:prstGeom>
          <a:noFill/>
          <a:ln>
            <a:noFill/>
          </a:ln>
        </p:spPr>
      </p:pic>
      <p:pic>
        <p:nvPicPr>
          <p:cNvPr id="306" name="Google Shape;306;g2cd80d15de2_0_20"/>
          <p:cNvPicPr preferRelativeResize="0"/>
          <p:nvPr/>
        </p:nvPicPr>
        <p:blipFill>
          <a:blip r:embed="rId2"/>
          <a:stretch>
            <a:fillRect/>
          </a:stretch>
        </p:blipFill>
        <p:spPr>
          <a:xfrm>
            <a:off x="467150" y="4417400"/>
            <a:ext cx="5319625" cy="2352675"/>
          </a:xfrm>
          <a:prstGeom prst="rect">
            <a:avLst/>
          </a:prstGeom>
          <a:noFill/>
          <a:ln>
            <a:noFill/>
          </a:ln>
        </p:spPr>
      </p:pic>
      <p:pic>
        <p:nvPicPr>
          <p:cNvPr id="307" name="Google Shape;307;g2cd80d15de2_0_20" descr="点击查看图片来源"/>
          <p:cNvPicPr preferRelativeResize="0"/>
          <p:nvPr/>
        </p:nvPicPr>
        <p:blipFill>
          <a:blip r:embed="rId3"/>
          <a:stretch>
            <a:fillRect/>
          </a:stretch>
        </p:blipFill>
        <p:spPr>
          <a:xfrm>
            <a:off x="6045100" y="1386250"/>
            <a:ext cx="5319600" cy="3003275"/>
          </a:xfrm>
          <a:prstGeom prst="rect">
            <a:avLst/>
          </a:prstGeom>
          <a:noFill/>
          <a:ln>
            <a:noFill/>
          </a:ln>
        </p:spPr>
      </p:pic>
      <p:pic>
        <p:nvPicPr>
          <p:cNvPr id="308" name="Google Shape;308;g2cd80d15de2_0_20"/>
          <p:cNvPicPr preferRelativeResize="0"/>
          <p:nvPr/>
        </p:nvPicPr>
        <p:blipFill>
          <a:blip r:embed="rId4"/>
          <a:stretch>
            <a:fillRect/>
          </a:stretch>
        </p:blipFill>
        <p:spPr>
          <a:xfrm>
            <a:off x="6145362" y="4426013"/>
            <a:ext cx="5119076" cy="2335453"/>
          </a:xfrm>
          <a:prstGeom prst="rect">
            <a:avLst/>
          </a:prstGeom>
          <a:noFill/>
          <a:ln>
            <a:noFill/>
          </a:ln>
        </p:spPr>
      </p:pic>
      <p:sp>
        <p:nvSpPr>
          <p:cNvPr id="309" name="Google Shape;309;g2cd80d15de2_0_20"/>
          <p:cNvSpPr txBox="1"/>
          <p:nvPr/>
        </p:nvSpPr>
        <p:spPr>
          <a:xfrm>
            <a:off x="1288775" y="873700"/>
            <a:ext cx="7148400" cy="554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The second part is the</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 nickname of the lipstick.</a:t>
            </a:r>
            <a:endParaRPr sz="2400" b="1"/>
          </a:p>
        </p:txBody>
      </p:sp>
      <p:sp>
        <p:nvSpPr>
          <p:cNvPr id="310" name="Google Shape;310;g2cd80d15de2_0_20"/>
          <p:cNvSpPr txBox="1"/>
          <p:nvPr/>
        </p:nvSpPr>
        <p:spPr>
          <a:xfrm>
            <a:off x="551750" y="1535050"/>
            <a:ext cx="2981700" cy="46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control </a:t>
            </a:r>
            <a:endParaRPr sz="28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28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group</a:t>
            </a:r>
            <a:endParaRPr sz="28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1" name="Google Shape;311;g2cd80d15de2_0_20"/>
          <p:cNvSpPr txBox="1"/>
          <p:nvPr/>
        </p:nvSpPr>
        <p:spPr>
          <a:xfrm>
            <a:off x="6096000" y="1455675"/>
            <a:ext cx="3252300" cy="46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experimental </a:t>
            </a:r>
            <a:endParaRPr sz="28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28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group</a:t>
            </a:r>
            <a:endParaRPr sz="28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15" name="Shape 315"/>
        <p:cNvGrpSpPr/>
        <p:nvPr/>
      </p:nvGrpSpPr>
      <p:grpSpPr>
        <a:xfrm>
          <a:off x="0" y="0"/>
          <a:ext cx="0" cy="0"/>
          <a:chOff x="0" y="0"/>
          <a:chExt cx="0" cy="0"/>
        </a:xfrm>
      </p:grpSpPr>
      <p:sp>
        <p:nvSpPr>
          <p:cNvPr id="316" name="Google Shape;316;g2cd80d15de2_0_13"/>
          <p:cNvSpPr txBox="1"/>
          <p:nvPr/>
        </p:nvSpPr>
        <p:spPr>
          <a:xfrm>
            <a:off x="960375" y="504700"/>
            <a:ext cx="6560400" cy="523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panose="020B0604020202020204"/>
              <a:buNone/>
            </a:pPr>
            <a:r>
              <a:rPr lang="en-US" sz="3200" b="1">
                <a:solidFill>
                  <a:schemeClr val="dk1"/>
                </a:solidFill>
                <a:latin typeface="Times New Roman" panose="02020603050405020304"/>
                <a:ea typeface="Times New Roman" panose="02020603050405020304"/>
                <a:cs typeface="Times New Roman" panose="02020603050405020304"/>
                <a:sym typeface="Times New Roman" panose="02020603050405020304"/>
              </a:rPr>
              <a:t>Data Analysis Process</a:t>
            </a:r>
            <a:endParaRPr sz="32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7" name="Google Shape;317;g2cd80d15de2_0_13"/>
          <p:cNvSpPr txBox="1"/>
          <p:nvPr/>
        </p:nvSpPr>
        <p:spPr>
          <a:xfrm>
            <a:off x="960375" y="1452600"/>
            <a:ext cx="10094100" cy="3952800"/>
          </a:xfrm>
          <a:prstGeom prst="rect">
            <a:avLst/>
          </a:prstGeom>
          <a:noFill/>
          <a:ln>
            <a:noFill/>
          </a:ln>
        </p:spPr>
        <p:txBody>
          <a:bodyPr spcFirstLastPara="1" wrap="square" lIns="91425" tIns="91425" rIns="91425" bIns="91425" anchor="t" anchorCtr="0">
            <a:noAutofit/>
          </a:bodyPr>
          <a:lstStyle/>
          <a:p>
            <a:pPr marL="457200" lvl="0" indent="-381000" algn="just" rtl="0">
              <a:spcBef>
                <a:spcPts val="0"/>
              </a:spcBef>
              <a:spcAft>
                <a:spcPts val="0"/>
              </a:spcAft>
              <a:buClr>
                <a:schemeClr val="dk1"/>
              </a:buClr>
              <a:buSzPts val="2400"/>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Reliability:Cronbach's alpha</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Validity:Factor analysis</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spcBef>
                <a:spcPts val="0"/>
              </a:spcBef>
              <a:spcAft>
                <a:spcPts val="0"/>
              </a:spcAft>
              <a:buNone/>
            </a:pP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just" rtl="0">
              <a:spcBef>
                <a:spcPts val="0"/>
              </a:spcBef>
              <a:spcAft>
                <a:spcPts val="0"/>
              </a:spcAft>
              <a:buClr>
                <a:schemeClr val="dk1"/>
              </a:buClr>
              <a:buSzPts val="2400"/>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independent variable:</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nominal measurement,</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mediator variable:</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continuous variable,</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just"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dependent variable: </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continuous variable.</a:t>
            </a:r>
            <a:endParaRPr sz="2400" b="1">
              <a:solidFill>
                <a:schemeClr val="dk1"/>
              </a:solidFill>
            </a:endParaRPr>
          </a:p>
          <a:p>
            <a:pPr marL="0" lvl="0" indent="0" algn="l" rtl="0">
              <a:spcBef>
                <a:spcPts val="0"/>
              </a:spcBef>
              <a:spcAft>
                <a:spcPts val="0"/>
              </a:spcAft>
              <a:buNone/>
            </a:pPr>
            <a:endParaRPr sz="2200">
              <a:solidFill>
                <a:schemeClr val="dk1"/>
              </a:solidFill>
            </a:endParaRPr>
          </a:p>
          <a:p>
            <a:pPr marL="0" lvl="0" indent="0" algn="l" rtl="0">
              <a:spcBef>
                <a:spcPts val="0"/>
              </a:spcBef>
              <a:spcAft>
                <a:spcPts val="0"/>
              </a:spcAft>
              <a:buNone/>
            </a:pPr>
            <a:endParaRPr sz="2200">
              <a:solidFill>
                <a:schemeClr val="dk1"/>
              </a:solidFill>
            </a:endParaRPr>
          </a:p>
          <a:p>
            <a:pPr marL="457200" marR="0" lvl="0" indent="-381000" algn="just" rtl="0">
              <a:lnSpc>
                <a:spcPct val="100000"/>
              </a:lnSpc>
              <a:spcBef>
                <a:spcPts val="0"/>
              </a:spcBef>
              <a:spcAft>
                <a:spcPts val="0"/>
              </a:spcAft>
              <a:buClr>
                <a:schemeClr val="dk1"/>
              </a:buClr>
              <a:buSzPts val="2400"/>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1: two independent samples t-test </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0000"/>
              </a:lnSpc>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2: two independent samples t-test </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0000"/>
              </a:lnSpc>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3: linear regression analysis</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00000"/>
              </a:lnSpc>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4: </a:t>
            </a: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mediated effects test procedure </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described by Kenny and colleagues is the more widely used test procedure</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Clr>
                <a:schemeClr val="dk1"/>
              </a:buClr>
              <a:buSzPts val="1100"/>
              <a:buFont typeface="Arial" panose="020B0604020202020204"/>
              <a:buNone/>
            </a:pP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21" name="Shape 321"/>
        <p:cNvGrpSpPr/>
        <p:nvPr/>
      </p:nvGrpSpPr>
      <p:grpSpPr>
        <a:xfrm>
          <a:off x="0" y="0"/>
          <a:ext cx="0" cy="0"/>
          <a:chOff x="0" y="0"/>
          <a:chExt cx="0" cy="0"/>
        </a:xfrm>
      </p:grpSpPr>
      <p:sp>
        <p:nvSpPr>
          <p:cNvPr id="322" name="Google Shape;322;g2cd7203bce8_0_0"/>
          <p:cNvSpPr txBox="1"/>
          <p:nvPr>
            <p:ph type="body" idx="2"/>
          </p:nvPr>
        </p:nvSpPr>
        <p:spPr>
          <a:xfrm>
            <a:off x="2069850" y="2077175"/>
            <a:ext cx="8052300" cy="970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4800"/>
              <a:buFont typeface="Arial" panose="020B0604020202020204"/>
              <a:buNone/>
            </a:pPr>
            <a:r>
              <a:rPr lang="en-US" sz="5300" b="1">
                <a:solidFill>
                  <a:srgbClr val="262626"/>
                </a:solidFill>
                <a:latin typeface="Times New Roman" panose="02020603050405020304"/>
                <a:ea typeface="Times New Roman" panose="02020603050405020304"/>
                <a:cs typeface="Times New Roman" panose="02020603050405020304"/>
                <a:sym typeface="Times New Roman" panose="02020603050405020304"/>
              </a:rPr>
              <a:t>05   Result</a:t>
            </a:r>
            <a:endParaRPr sz="5300"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90000"/>
              </a:lnSpc>
              <a:spcBef>
                <a:spcPts val="0"/>
              </a:spcBef>
              <a:spcAft>
                <a:spcPts val="0"/>
              </a:spcAft>
              <a:buClr>
                <a:srgbClr val="262626"/>
              </a:buClr>
              <a:buSzPts val="4800"/>
              <a:buFont typeface="Arial" panose="020B0604020202020204"/>
              <a:buNone/>
            </a:pPr>
            <a:endParaRPr sz="5300" b="1">
              <a:solidFill>
                <a:srgbClr val="262626"/>
              </a:solidFill>
              <a:latin typeface="Calibri" panose="020F0502020204030204"/>
              <a:ea typeface="Calibri" panose="020F0502020204030204"/>
              <a:cs typeface="Calibri" panose="020F0502020204030204"/>
              <a:sym typeface="Calibri" panose="020F0502020204030204"/>
            </a:endParaRPr>
          </a:p>
        </p:txBody>
      </p:sp>
      <p:cxnSp>
        <p:nvCxnSpPr>
          <p:cNvPr id="323" name="Google Shape;323;g2cd7203bce8_0_0"/>
          <p:cNvCxnSpPr/>
          <p:nvPr/>
        </p:nvCxnSpPr>
        <p:spPr>
          <a:xfrm>
            <a:off x="6019788" y="2512450"/>
            <a:ext cx="1305000" cy="0"/>
          </a:xfrm>
          <a:prstGeom prst="straightConnector1">
            <a:avLst/>
          </a:prstGeom>
          <a:noFill/>
          <a:ln w="28575" cap="flat" cmpd="sng">
            <a:solidFill>
              <a:schemeClr val="accent1"/>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27" name="Shape 327"/>
        <p:cNvGrpSpPr/>
        <p:nvPr/>
      </p:nvGrpSpPr>
      <p:grpSpPr>
        <a:xfrm>
          <a:off x="0" y="0"/>
          <a:ext cx="0" cy="0"/>
          <a:chOff x="0" y="0"/>
          <a:chExt cx="0" cy="0"/>
        </a:xfrm>
      </p:grpSpPr>
      <p:sp>
        <p:nvSpPr>
          <p:cNvPr id="328" name="Google Shape;328;g2cd7203bce8_0_5"/>
          <p:cNvSpPr txBox="1"/>
          <p:nvPr/>
        </p:nvSpPr>
        <p:spPr>
          <a:xfrm>
            <a:off x="1538300" y="407200"/>
            <a:ext cx="65604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rPr>
              <a:t>5.1 Descriptive </a:t>
            </a:r>
            <a:r>
              <a:rPr lang="en-US" sz="2800" b="1">
                <a:solidFill>
                  <a:schemeClr val="dk1"/>
                </a:solidFill>
              </a:rPr>
              <a:t>statistical</a:t>
            </a:r>
            <a:r>
              <a:rPr lang="en-US" sz="2800" b="1">
                <a:solidFill>
                  <a:schemeClr val="dk1"/>
                </a:solidFill>
              </a:rPr>
              <a:t> analysis </a:t>
            </a:r>
            <a:endParaRPr sz="2800" b="1">
              <a:solidFill>
                <a:schemeClr val="dk1"/>
              </a:solidFill>
            </a:endParaRPr>
          </a:p>
        </p:txBody>
      </p:sp>
      <p:sp>
        <p:nvSpPr>
          <p:cNvPr id="329" name="Google Shape;329;g2cd7203bce8_0_5"/>
          <p:cNvSpPr txBox="1"/>
          <p:nvPr/>
        </p:nvSpPr>
        <p:spPr>
          <a:xfrm>
            <a:off x="6941350" y="1607350"/>
            <a:ext cx="4893300" cy="29052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Clr>
                <a:schemeClr val="dk1"/>
              </a:buClr>
              <a:buSzPts val="2400"/>
              <a:buFont typeface="Times New Roman" panose="02020603050405020304"/>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222 responses received for comparing nickname-based and color-based lipstick naming methods.</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spcBef>
                <a:spcPts val="0"/>
              </a:spcBef>
              <a:spcAft>
                <a:spcPts val="0"/>
              </a:spcAft>
              <a:buClr>
                <a:schemeClr val="dk1"/>
              </a:buClr>
              <a:buSzPts val="2400"/>
              <a:buFont typeface="Times New Roman" panose="02020603050405020304"/>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Consistent opinions on lipstick intensity among respondents aged 20-29.</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spcBef>
                <a:spcPts val="0"/>
              </a:spcBef>
              <a:spcAft>
                <a:spcPts val="0"/>
              </a:spcAft>
              <a:buClr>
                <a:schemeClr val="dk1"/>
              </a:buClr>
              <a:buSzPts val="2400"/>
              <a:buFont typeface="Times New Roman" panose="02020603050405020304"/>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Little age variation observed between the two sample groups.</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0"/>
              </a:spcBef>
              <a:spcAft>
                <a:spcPts val="0"/>
              </a:spcAft>
              <a:buNone/>
            </a:pPr>
            <a:endParaRPr sz="2000">
              <a:solidFill>
                <a:schemeClr val="dk1"/>
              </a:solidFill>
            </a:endParaRPr>
          </a:p>
        </p:txBody>
      </p:sp>
      <p:pic>
        <p:nvPicPr>
          <p:cNvPr id="330" name="Google Shape;330;g2cd7203bce8_0_5"/>
          <p:cNvPicPr preferRelativeResize="0"/>
          <p:nvPr/>
        </p:nvPicPr>
        <p:blipFill>
          <a:blip r:embed="rId1"/>
          <a:stretch>
            <a:fillRect/>
          </a:stretch>
        </p:blipFill>
        <p:spPr>
          <a:xfrm>
            <a:off x="1343025" y="1212000"/>
            <a:ext cx="5005844" cy="5469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34" name="Shape 334"/>
        <p:cNvGrpSpPr/>
        <p:nvPr/>
      </p:nvGrpSpPr>
      <p:grpSpPr>
        <a:xfrm>
          <a:off x="0" y="0"/>
          <a:ext cx="0" cy="0"/>
          <a:chOff x="0" y="0"/>
          <a:chExt cx="0" cy="0"/>
        </a:xfrm>
      </p:grpSpPr>
      <p:sp>
        <p:nvSpPr>
          <p:cNvPr id="335" name="Google Shape;335;g2cd7203bce8_0_21"/>
          <p:cNvSpPr txBox="1"/>
          <p:nvPr/>
        </p:nvSpPr>
        <p:spPr>
          <a:xfrm>
            <a:off x="1538300" y="407200"/>
            <a:ext cx="65604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rPr>
              <a:t>5.2 </a:t>
            </a:r>
            <a:r>
              <a:rPr lang="en-US" sz="2800" b="1">
                <a:solidFill>
                  <a:schemeClr val="dk1"/>
                </a:solidFill>
              </a:rPr>
              <a:t>Reliability</a:t>
            </a:r>
            <a:r>
              <a:rPr lang="en-US" sz="2800" b="1">
                <a:solidFill>
                  <a:schemeClr val="dk1"/>
                </a:solidFill>
              </a:rPr>
              <a:t> analysis </a:t>
            </a:r>
            <a:endParaRPr sz="2800" b="1">
              <a:solidFill>
                <a:schemeClr val="dk1"/>
              </a:solidFill>
            </a:endParaRPr>
          </a:p>
        </p:txBody>
      </p:sp>
      <p:sp>
        <p:nvSpPr>
          <p:cNvPr id="336" name="Google Shape;336;g2cd7203bce8_0_21"/>
          <p:cNvSpPr txBox="1"/>
          <p:nvPr/>
        </p:nvSpPr>
        <p:spPr>
          <a:xfrm>
            <a:off x="1916900" y="4383825"/>
            <a:ext cx="8822400" cy="9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Times New Roman" panose="02020603050405020304"/>
                <a:ea typeface="Times New Roman" panose="02020603050405020304"/>
                <a:cs typeface="Times New Roman" panose="02020603050405020304"/>
                <a:sym typeface="Times New Roman" panose="02020603050405020304"/>
              </a:rPr>
              <a:t>Cronbach's alpha coefficient &gt; 0.6 indicates questionnaire reliability, confirming effective measurement of purchase intention and perceived product uniqueness.</a:t>
            </a:r>
            <a:endParaRPr sz="21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37" name="Google Shape;337;g2cd7203bce8_0_21"/>
          <p:cNvPicPr preferRelativeResize="0"/>
          <p:nvPr/>
        </p:nvPicPr>
        <p:blipFill>
          <a:blip r:embed="rId1"/>
          <a:stretch>
            <a:fillRect/>
          </a:stretch>
        </p:blipFill>
        <p:spPr>
          <a:xfrm>
            <a:off x="1641800" y="1640625"/>
            <a:ext cx="9372600" cy="274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41" name="Shape 341"/>
        <p:cNvGrpSpPr/>
        <p:nvPr/>
      </p:nvGrpSpPr>
      <p:grpSpPr>
        <a:xfrm>
          <a:off x="0" y="0"/>
          <a:ext cx="0" cy="0"/>
          <a:chOff x="0" y="0"/>
          <a:chExt cx="0" cy="0"/>
        </a:xfrm>
      </p:grpSpPr>
      <p:sp>
        <p:nvSpPr>
          <p:cNvPr id="342" name="Google Shape;342;g2cd7203bce8_0_31"/>
          <p:cNvSpPr txBox="1"/>
          <p:nvPr/>
        </p:nvSpPr>
        <p:spPr>
          <a:xfrm>
            <a:off x="1607350" y="471500"/>
            <a:ext cx="3631500" cy="48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rPr>
              <a:t>5.3 Validity analysis</a:t>
            </a:r>
            <a:endParaRPr sz="2800" b="1">
              <a:solidFill>
                <a:schemeClr val="dk1"/>
              </a:solidFill>
            </a:endParaRPr>
          </a:p>
        </p:txBody>
      </p:sp>
      <p:pic>
        <p:nvPicPr>
          <p:cNvPr id="343" name="Google Shape;343;g2cd7203bce8_0_31"/>
          <p:cNvPicPr preferRelativeResize="0"/>
          <p:nvPr/>
        </p:nvPicPr>
        <p:blipFill rotWithShape="1">
          <a:blip r:embed="rId1"/>
          <a:srcRect r="13785"/>
          <a:stretch>
            <a:fillRect/>
          </a:stretch>
        </p:blipFill>
        <p:spPr>
          <a:xfrm>
            <a:off x="2581300" y="1652525"/>
            <a:ext cx="7466549" cy="2776575"/>
          </a:xfrm>
          <a:prstGeom prst="rect">
            <a:avLst/>
          </a:prstGeom>
          <a:noFill/>
          <a:ln>
            <a:noFill/>
          </a:ln>
        </p:spPr>
      </p:pic>
      <p:sp>
        <p:nvSpPr>
          <p:cNvPr id="344" name="Google Shape;344;g2cd7203bce8_0_31"/>
          <p:cNvSpPr txBox="1"/>
          <p:nvPr/>
        </p:nvSpPr>
        <p:spPr>
          <a:xfrm>
            <a:off x="2059775" y="4512475"/>
            <a:ext cx="8394000" cy="134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Study used exploratory factor analysis for validity assessment. Results (KMO=0.714, Bartlett Test sig&lt;0.001) indicate data suitability for factor analysis.</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48" name="Shape 348"/>
        <p:cNvGrpSpPr/>
        <p:nvPr/>
      </p:nvGrpSpPr>
      <p:grpSpPr>
        <a:xfrm>
          <a:off x="0" y="0"/>
          <a:ext cx="0" cy="0"/>
          <a:chOff x="0" y="0"/>
          <a:chExt cx="0" cy="0"/>
        </a:xfrm>
      </p:grpSpPr>
      <p:sp>
        <p:nvSpPr>
          <p:cNvPr id="349" name="Google Shape;349;g2cd7203bce8_0_39"/>
          <p:cNvSpPr txBox="1"/>
          <p:nvPr/>
        </p:nvSpPr>
        <p:spPr>
          <a:xfrm>
            <a:off x="1512100" y="411950"/>
            <a:ext cx="65604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rPr>
              <a:t>5.4 Hypothesis Testing</a:t>
            </a:r>
            <a:endParaRPr sz="2800" b="1">
              <a:solidFill>
                <a:schemeClr val="dk1"/>
              </a:solidFill>
            </a:endParaRPr>
          </a:p>
        </p:txBody>
      </p:sp>
      <p:pic>
        <p:nvPicPr>
          <p:cNvPr id="350" name="Google Shape;350;g2cd7203bce8_0_39"/>
          <p:cNvPicPr preferRelativeResize="0"/>
          <p:nvPr/>
        </p:nvPicPr>
        <p:blipFill rotWithShape="1">
          <a:blip r:embed="rId1"/>
          <a:srcRect t="8883"/>
          <a:stretch>
            <a:fillRect/>
          </a:stretch>
        </p:blipFill>
        <p:spPr>
          <a:xfrm>
            <a:off x="1103750" y="1095375"/>
            <a:ext cx="9817050" cy="1857400"/>
          </a:xfrm>
          <a:prstGeom prst="rect">
            <a:avLst/>
          </a:prstGeom>
          <a:noFill/>
          <a:ln>
            <a:noFill/>
          </a:ln>
        </p:spPr>
      </p:pic>
      <p:pic>
        <p:nvPicPr>
          <p:cNvPr id="351" name="Google Shape;351;g2cd7203bce8_0_39"/>
          <p:cNvPicPr preferRelativeResize="0"/>
          <p:nvPr/>
        </p:nvPicPr>
        <p:blipFill rotWithShape="1">
          <a:blip r:embed="rId2"/>
          <a:srcRect r="5132"/>
          <a:stretch>
            <a:fillRect/>
          </a:stretch>
        </p:blipFill>
        <p:spPr>
          <a:xfrm>
            <a:off x="1103738" y="3036200"/>
            <a:ext cx="5005374" cy="1390375"/>
          </a:xfrm>
          <a:prstGeom prst="rect">
            <a:avLst/>
          </a:prstGeom>
          <a:noFill/>
          <a:ln>
            <a:noFill/>
          </a:ln>
        </p:spPr>
      </p:pic>
      <p:sp>
        <p:nvSpPr>
          <p:cNvPr id="352" name="Google Shape;352;g2cd7203bce8_0_39"/>
          <p:cNvSpPr txBox="1"/>
          <p:nvPr/>
        </p:nvSpPr>
        <p:spPr>
          <a:xfrm>
            <a:off x="5941225" y="3048000"/>
            <a:ext cx="5703300" cy="296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1</a:t>
            </a:r>
            <a:endParaRPr sz="21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l" rtl="0">
              <a:spcBef>
                <a:spcPts val="0"/>
              </a:spcBef>
              <a:spcAft>
                <a:spcPts val="0"/>
              </a:spcAft>
              <a:buClr>
                <a:schemeClr val="dk1"/>
              </a:buClr>
              <a:buSzPts val="2100"/>
              <a:buFont typeface="Times New Roman" panose="02020603050405020304"/>
              <a:buChar char="●"/>
            </a:pPr>
            <a:r>
              <a:rPr lang="en-US" sz="2100">
                <a:solidFill>
                  <a:schemeClr val="dk1"/>
                </a:solidFill>
                <a:latin typeface="Times New Roman" panose="02020603050405020304"/>
                <a:ea typeface="Times New Roman" panose="02020603050405020304"/>
                <a:cs typeface="Times New Roman" panose="02020603050405020304"/>
                <a:sym typeface="Times New Roman" panose="02020603050405020304"/>
              </a:rPr>
              <a:t>Statistical analysis indicates a significant difference in customer purchase intention between nickname-based and normal color-based lipstick naming styles (sig=0.047&lt;0.05).</a:t>
            </a:r>
            <a:endParaRPr sz="21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l" rtl="0">
              <a:spcBef>
                <a:spcPts val="0"/>
              </a:spcBef>
              <a:spcAft>
                <a:spcPts val="0"/>
              </a:spcAft>
              <a:buClr>
                <a:schemeClr val="dk1"/>
              </a:buClr>
              <a:buSzPts val="2100"/>
              <a:buFont typeface="Times New Roman" panose="02020603050405020304"/>
              <a:buChar char="●"/>
            </a:pPr>
            <a:r>
              <a:rPr lang="en-US" sz="2100">
                <a:solidFill>
                  <a:schemeClr val="dk1"/>
                </a:solidFill>
                <a:latin typeface="Times New Roman" panose="02020603050405020304"/>
                <a:ea typeface="Times New Roman" panose="02020603050405020304"/>
                <a:cs typeface="Times New Roman" panose="02020603050405020304"/>
                <a:sym typeface="Times New Roman" panose="02020603050405020304"/>
              </a:rPr>
              <a:t>However, it's important to note that the mean value for normal color-based lipstick naming style is higher.</a:t>
            </a:r>
            <a:endParaRPr sz="21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l" rtl="0">
              <a:spcBef>
                <a:spcPts val="0"/>
              </a:spcBef>
              <a:spcAft>
                <a:spcPts val="0"/>
              </a:spcAft>
              <a:buClr>
                <a:schemeClr val="dk1"/>
              </a:buClr>
              <a:buSzPts val="2100"/>
              <a:buFont typeface="Times New Roman" panose="02020603050405020304"/>
              <a:buChar char="●"/>
            </a:pPr>
            <a:r>
              <a:rPr lang="en-US" sz="2100">
                <a:solidFill>
                  <a:schemeClr val="dk1"/>
                </a:solidFill>
                <a:latin typeface="Times New Roman" panose="02020603050405020304"/>
                <a:ea typeface="Times New Roman" panose="02020603050405020304"/>
                <a:cs typeface="Times New Roman" panose="02020603050405020304"/>
                <a:sym typeface="Times New Roman" panose="02020603050405020304"/>
              </a:rPr>
              <a:t>As a result, hypothesis one is not valid.</a:t>
            </a:r>
            <a:endParaRPr sz="21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1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56" name="Shape 356"/>
        <p:cNvGrpSpPr/>
        <p:nvPr/>
      </p:nvGrpSpPr>
      <p:grpSpPr>
        <a:xfrm>
          <a:off x="0" y="0"/>
          <a:ext cx="0" cy="0"/>
          <a:chOff x="0" y="0"/>
          <a:chExt cx="0" cy="0"/>
        </a:xfrm>
      </p:grpSpPr>
      <p:sp>
        <p:nvSpPr>
          <p:cNvPr id="357" name="Google Shape;357;g2cd7203bce8_0_49"/>
          <p:cNvSpPr txBox="1"/>
          <p:nvPr/>
        </p:nvSpPr>
        <p:spPr>
          <a:xfrm>
            <a:off x="1512100" y="411950"/>
            <a:ext cx="65604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rPr>
              <a:t>5.4 Hypothesis Testing</a:t>
            </a:r>
            <a:endParaRPr sz="2800" b="1">
              <a:solidFill>
                <a:schemeClr val="dk1"/>
              </a:solidFill>
            </a:endParaRPr>
          </a:p>
        </p:txBody>
      </p:sp>
      <p:pic>
        <p:nvPicPr>
          <p:cNvPr id="358" name="Google Shape;358;g2cd7203bce8_0_49"/>
          <p:cNvPicPr preferRelativeResize="0"/>
          <p:nvPr/>
        </p:nvPicPr>
        <p:blipFill>
          <a:blip r:embed="rId1"/>
          <a:stretch>
            <a:fillRect/>
          </a:stretch>
        </p:blipFill>
        <p:spPr>
          <a:xfrm>
            <a:off x="1322238" y="1164350"/>
            <a:ext cx="9547525" cy="1967000"/>
          </a:xfrm>
          <a:prstGeom prst="rect">
            <a:avLst/>
          </a:prstGeom>
          <a:noFill/>
          <a:ln>
            <a:noFill/>
          </a:ln>
        </p:spPr>
      </p:pic>
      <p:sp>
        <p:nvSpPr>
          <p:cNvPr id="359" name="Google Shape;359;g2cd7203bce8_0_49"/>
          <p:cNvSpPr txBox="1"/>
          <p:nvPr/>
        </p:nvSpPr>
        <p:spPr>
          <a:xfrm>
            <a:off x="1952625" y="3655225"/>
            <a:ext cx="8429700" cy="148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2</a:t>
            </a:r>
            <a:endParaRPr sz="24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spcBef>
                <a:spcPts val="0"/>
              </a:spcBef>
              <a:spcAft>
                <a:spcPts val="0"/>
              </a:spcAft>
              <a:buClr>
                <a:schemeClr val="dk1"/>
              </a:buClr>
              <a:buSzPts val="2400"/>
              <a:buFont typeface="Times New Roman" panose="02020603050405020304"/>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Statistical analysis (sig=0.063&gt;0.05) reveals no significant difference in the effect of nickname-based and normal color-based lipstick naming styles on product uniqueness.</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81000" algn="l" rtl="0">
              <a:spcBef>
                <a:spcPts val="0"/>
              </a:spcBef>
              <a:spcAft>
                <a:spcPts val="0"/>
              </a:spcAft>
              <a:buClr>
                <a:schemeClr val="dk1"/>
              </a:buClr>
              <a:buSzPts val="2400"/>
              <a:buFont typeface="Times New Roman" panose="02020603050405020304"/>
              <a:buChar char="●"/>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two is not valid.</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4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63" name="Shape 363"/>
        <p:cNvGrpSpPr/>
        <p:nvPr/>
      </p:nvGrpSpPr>
      <p:grpSpPr>
        <a:xfrm>
          <a:off x="0" y="0"/>
          <a:ext cx="0" cy="0"/>
          <a:chOff x="0" y="0"/>
          <a:chExt cx="0" cy="0"/>
        </a:xfrm>
      </p:grpSpPr>
      <p:sp>
        <p:nvSpPr>
          <p:cNvPr id="364" name="Google Shape;364;g2cd7203bce8_0_52"/>
          <p:cNvSpPr txBox="1"/>
          <p:nvPr/>
        </p:nvSpPr>
        <p:spPr>
          <a:xfrm>
            <a:off x="1512100" y="411950"/>
            <a:ext cx="65604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rPr>
              <a:t>5.4 Hypothesis Testing</a:t>
            </a:r>
            <a:endParaRPr sz="2800" b="1">
              <a:solidFill>
                <a:schemeClr val="dk1"/>
              </a:solidFill>
            </a:endParaRPr>
          </a:p>
        </p:txBody>
      </p:sp>
      <p:pic>
        <p:nvPicPr>
          <p:cNvPr id="365" name="Google Shape;365;g2cd7203bce8_0_52"/>
          <p:cNvPicPr preferRelativeResize="0"/>
          <p:nvPr/>
        </p:nvPicPr>
        <p:blipFill>
          <a:blip r:embed="rId1"/>
          <a:stretch>
            <a:fillRect/>
          </a:stretch>
        </p:blipFill>
        <p:spPr>
          <a:xfrm>
            <a:off x="671500" y="1331050"/>
            <a:ext cx="5734050" cy="1743075"/>
          </a:xfrm>
          <a:prstGeom prst="rect">
            <a:avLst/>
          </a:prstGeom>
          <a:noFill/>
          <a:ln>
            <a:noFill/>
          </a:ln>
        </p:spPr>
      </p:pic>
      <p:pic>
        <p:nvPicPr>
          <p:cNvPr id="366" name="Google Shape;366;g2cd7203bce8_0_52"/>
          <p:cNvPicPr preferRelativeResize="0"/>
          <p:nvPr/>
        </p:nvPicPr>
        <p:blipFill rotWithShape="1">
          <a:blip r:embed="rId2"/>
          <a:srcRect r="7313"/>
          <a:stretch>
            <a:fillRect/>
          </a:stretch>
        </p:blipFill>
        <p:spPr>
          <a:xfrm>
            <a:off x="135725" y="3238425"/>
            <a:ext cx="6947399" cy="1743075"/>
          </a:xfrm>
          <a:prstGeom prst="rect">
            <a:avLst/>
          </a:prstGeom>
          <a:noFill/>
          <a:ln>
            <a:noFill/>
          </a:ln>
        </p:spPr>
      </p:pic>
      <p:sp>
        <p:nvSpPr>
          <p:cNvPr id="367" name="Google Shape;367;g2cd7203bce8_0_52"/>
          <p:cNvSpPr txBox="1"/>
          <p:nvPr/>
        </p:nvSpPr>
        <p:spPr>
          <a:xfrm>
            <a:off x="6965150" y="1085850"/>
            <a:ext cx="4524300" cy="46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3</a:t>
            </a: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spcBef>
                <a:spcPts val="0"/>
              </a:spcBef>
              <a:spcAft>
                <a:spcPts val="0"/>
              </a:spcAft>
              <a:buClr>
                <a:schemeClr val="dk1"/>
              </a:buClr>
              <a:buSzPts val="1800"/>
              <a:buFont typeface="Times New Roman" panose="02020603050405020304"/>
              <a:buChar char="●"/>
            </a:pP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Regression analysis (R*R=0.353) indicates that consumer-perceived uniqueness explains 35.3% of the variance in purchase intention.</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spcBef>
                <a:spcPts val="0"/>
              </a:spcBef>
              <a:spcAft>
                <a:spcPts val="0"/>
              </a:spcAft>
              <a:buClr>
                <a:schemeClr val="dk1"/>
              </a:buClr>
              <a:buSzPts val="1800"/>
              <a:buFont typeface="Times New Roman" panose="02020603050405020304"/>
              <a:buChar char="●"/>
            </a:pP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The regression model is valid (sig&lt;0.001&lt;0.05) with a coefficient of 0.484.</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spcBef>
                <a:spcPts val="0"/>
              </a:spcBef>
              <a:spcAft>
                <a:spcPts val="0"/>
              </a:spcAft>
              <a:buClr>
                <a:schemeClr val="dk1"/>
              </a:buClr>
              <a:buSzPts val="1800"/>
              <a:buFont typeface="Times New Roman" panose="02020603050405020304"/>
              <a:buChar char="●"/>
            </a:pP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Increase of 1 in consumer-perceived uniqueness corresponds to a 0.484 increase in purchase intention.</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4</a:t>
            </a: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spcBef>
                <a:spcPts val="0"/>
              </a:spcBef>
              <a:spcAft>
                <a:spcPts val="0"/>
              </a:spcAft>
              <a:buClr>
                <a:schemeClr val="dk1"/>
              </a:buClr>
              <a:buSzPts val="1800"/>
              <a:buFont typeface="Times New Roman" panose="02020603050405020304"/>
              <a:buChar char="●"/>
            </a:pP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Hypothesis two (lipstick naming style's effect on consumer-perceived uniqueness) is not significant.</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spcBef>
                <a:spcPts val="0"/>
              </a:spcBef>
              <a:spcAft>
                <a:spcPts val="0"/>
              </a:spcAft>
              <a:buClr>
                <a:schemeClr val="dk1"/>
              </a:buClr>
              <a:buSzPts val="1800"/>
              <a:buFont typeface="Times New Roman" panose="02020603050405020304"/>
              <a:buChar char="●"/>
            </a:pP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Mediating effect premise is not satisfied, rendering hypothesis four invalid.</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71" name="Shape 371"/>
        <p:cNvGrpSpPr/>
        <p:nvPr/>
      </p:nvGrpSpPr>
      <p:grpSpPr>
        <a:xfrm>
          <a:off x="0" y="0"/>
          <a:ext cx="0" cy="0"/>
          <a:chOff x="0" y="0"/>
          <a:chExt cx="0" cy="0"/>
        </a:xfrm>
      </p:grpSpPr>
      <p:sp>
        <p:nvSpPr>
          <p:cNvPr id="372" name="Google Shape;372;g2cd7203bce8_0_55"/>
          <p:cNvSpPr txBox="1"/>
          <p:nvPr/>
        </p:nvSpPr>
        <p:spPr>
          <a:xfrm>
            <a:off x="1512100" y="488150"/>
            <a:ext cx="65604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chemeClr val="dk1"/>
                </a:solidFill>
              </a:rPr>
              <a:t>5.5 Result</a:t>
            </a:r>
            <a:endParaRPr sz="2800" b="1">
              <a:solidFill>
                <a:schemeClr val="dk1"/>
              </a:solidFill>
            </a:endParaRPr>
          </a:p>
        </p:txBody>
      </p:sp>
      <p:sp>
        <p:nvSpPr>
          <p:cNvPr id="373" name="Google Shape;373;g2cd7203bce8_0_55"/>
          <p:cNvSpPr txBox="1"/>
          <p:nvPr/>
        </p:nvSpPr>
        <p:spPr>
          <a:xfrm>
            <a:off x="1076325" y="1821650"/>
            <a:ext cx="9489300" cy="39528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Font typeface="Times New Roman" panose="02020603050405020304"/>
              <a:buChar char="●"/>
            </a:pPr>
            <a:r>
              <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Different lipstick naming styles (color-based and celebrity-based) have a significant effect on purchase intention, but consumers preferred normal color naming.</a:t>
            </a: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spcBef>
                <a:spcPts val="0"/>
              </a:spcBef>
              <a:spcAft>
                <a:spcPts val="0"/>
              </a:spcAft>
              <a:buClr>
                <a:schemeClr val="dk1"/>
              </a:buClr>
              <a:buSzPts val="2200"/>
              <a:buFont typeface="Times New Roman" panose="02020603050405020304"/>
              <a:buChar char="●"/>
            </a:pPr>
            <a:r>
              <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Celebrity lipstick naming does not increase consumer perceived uniqueness, potentially due to unattractive celebrities or a lack of fundamental differentiation.</a:t>
            </a: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spcBef>
                <a:spcPts val="0"/>
              </a:spcBef>
              <a:spcAft>
                <a:spcPts val="0"/>
              </a:spcAft>
              <a:buClr>
                <a:schemeClr val="dk1"/>
              </a:buClr>
              <a:buSzPts val="2200"/>
              <a:buFont typeface="Times New Roman" panose="02020603050405020304"/>
              <a:buChar char="●"/>
            </a:pPr>
            <a:r>
              <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Higher perceived uniqueness positively impacts purchase intentions, aligning with the need for recognition and uniqueness.</a:t>
            </a: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l" rtl="0">
              <a:spcBef>
                <a:spcPts val="0"/>
              </a:spcBef>
              <a:spcAft>
                <a:spcPts val="0"/>
              </a:spcAft>
              <a:buClr>
                <a:schemeClr val="dk1"/>
              </a:buClr>
              <a:buSzPts val="2200"/>
              <a:buFont typeface="Times New Roman" panose="02020603050405020304"/>
              <a:buChar char="●"/>
            </a:pPr>
            <a:r>
              <a:rPr lang="en-US" sz="2200">
                <a:solidFill>
                  <a:schemeClr val="dk1"/>
                </a:solidFill>
                <a:latin typeface="Times New Roman" panose="02020603050405020304"/>
                <a:ea typeface="Times New Roman" panose="02020603050405020304"/>
                <a:cs typeface="Times New Roman" panose="02020603050405020304"/>
                <a:sym typeface="Times New Roman" panose="02020603050405020304"/>
              </a:rPr>
              <a:t>Stimulating purchase intention can be achieved through personalized and customized advertisements or products.</a:t>
            </a:r>
            <a:endParaRPr sz="2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sz="22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77" name="Shape 377"/>
        <p:cNvGrpSpPr/>
        <p:nvPr/>
      </p:nvGrpSpPr>
      <p:grpSpPr>
        <a:xfrm>
          <a:off x="0" y="0"/>
          <a:ext cx="0" cy="0"/>
          <a:chOff x="0" y="0"/>
          <a:chExt cx="0" cy="0"/>
        </a:xfrm>
      </p:grpSpPr>
      <p:sp>
        <p:nvSpPr>
          <p:cNvPr id="378" name="Google Shape;378;g2cd7203bce8_2_0"/>
          <p:cNvSpPr txBox="1"/>
          <p:nvPr>
            <p:ph type="body" idx="2"/>
          </p:nvPr>
        </p:nvSpPr>
        <p:spPr>
          <a:xfrm>
            <a:off x="3308350" y="2077183"/>
            <a:ext cx="5575200" cy="970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4800"/>
              <a:buFont typeface="Arial" panose="020B0604020202020204"/>
              <a:buNone/>
            </a:pPr>
            <a:r>
              <a:rPr lang="en-US" sz="5300" b="1">
                <a:solidFill>
                  <a:srgbClr val="262626"/>
                </a:solidFill>
                <a:latin typeface="Times New Roman" panose="02020603050405020304"/>
                <a:ea typeface="Times New Roman" panose="02020603050405020304"/>
                <a:cs typeface="Times New Roman" panose="02020603050405020304"/>
                <a:sym typeface="Times New Roman" panose="02020603050405020304"/>
              </a:rPr>
              <a:t>06    Conclusion</a:t>
            </a:r>
            <a:endParaRPr sz="5300"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379" name="Google Shape;379;g2cd7203bce8_2_0"/>
          <p:cNvCxnSpPr/>
          <p:nvPr/>
        </p:nvCxnSpPr>
        <p:spPr>
          <a:xfrm>
            <a:off x="6095988" y="2969650"/>
            <a:ext cx="1305000" cy="0"/>
          </a:xfrm>
          <a:prstGeom prst="straightConnector1">
            <a:avLst/>
          </a:prstGeom>
          <a:noFill/>
          <a:ln w="28575" cap="flat" cmpd="sng">
            <a:solidFill>
              <a:schemeClr val="accent1"/>
            </a:solidFill>
            <a:prstDash val="solid"/>
            <a:miter lim="800000"/>
            <a:headEnd type="none" w="sm" len="sm"/>
            <a:tailEnd type="none" w="sm" len="sm"/>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83" name="Shape 383"/>
        <p:cNvGrpSpPr/>
        <p:nvPr/>
      </p:nvGrpSpPr>
      <p:grpSpPr>
        <a:xfrm>
          <a:off x="0" y="0"/>
          <a:ext cx="0" cy="0"/>
          <a:chOff x="0" y="0"/>
          <a:chExt cx="0" cy="0"/>
        </a:xfrm>
      </p:grpSpPr>
      <p:sp>
        <p:nvSpPr>
          <p:cNvPr id="384" name="Google Shape;384;p23"/>
          <p:cNvSpPr txBox="1"/>
          <p:nvPr>
            <p:ph type="title"/>
          </p:nvPr>
        </p:nvSpPr>
        <p:spPr>
          <a:xfrm>
            <a:off x="914400" y="4413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62626"/>
              </a:buClr>
              <a:buSzPts val="4400"/>
              <a:buFont typeface="Arial" panose="020B0604020202020204"/>
              <a:buNone/>
            </a:pPr>
            <a:r>
              <a:rPr lang="en-US">
                <a:solidFill>
                  <a:srgbClr val="262626"/>
                </a:solidFill>
                <a:latin typeface="Times New Roman" panose="02020603050405020304"/>
                <a:ea typeface="Times New Roman" panose="02020603050405020304"/>
                <a:cs typeface="Times New Roman" panose="02020603050405020304"/>
                <a:sym typeface="Times New Roman" panose="02020603050405020304"/>
              </a:rPr>
              <a:t>Summary of Findings</a:t>
            </a:r>
            <a:endParaRPr>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5" name="Google Shape;385;p23"/>
          <p:cNvSpPr txBox="1"/>
          <p:nvPr>
            <p:ph type="body" idx="1"/>
          </p:nvPr>
        </p:nvSpPr>
        <p:spPr>
          <a:xfrm>
            <a:off x="838200" y="1749425"/>
            <a:ext cx="10515600" cy="4351200"/>
          </a:xfrm>
          <a:prstGeom prst="rect">
            <a:avLst/>
          </a:prstGeom>
          <a:noFill/>
          <a:ln>
            <a:noFill/>
          </a:ln>
        </p:spPr>
        <p:txBody>
          <a:bodyPr spcFirstLastPara="1" wrap="square" lIns="91425" tIns="45700" rIns="91425" bIns="45700" anchor="t" anchorCtr="0">
            <a:normAutofit/>
          </a:bodyPr>
          <a:lstStyle/>
          <a:p>
            <a:pPr marL="228600" lvl="0" indent="-266700" algn="just" rtl="0">
              <a:lnSpc>
                <a:spcPct val="120000"/>
              </a:lnSpc>
              <a:spcBef>
                <a:spcPts val="0"/>
              </a:spcBef>
              <a:spcAft>
                <a:spcPts val="0"/>
              </a:spcAft>
              <a:buClr>
                <a:schemeClr val="dk1"/>
              </a:buClr>
              <a:buSzPts val="2400"/>
              <a:buFont typeface="Times New Roman" panose="02020603050405020304"/>
              <a:buChar char="•"/>
            </a:pPr>
            <a:r>
              <a:rPr lang="en-US" sz="2400">
                <a:latin typeface="Times New Roman" panose="02020603050405020304"/>
                <a:ea typeface="Times New Roman" panose="02020603050405020304"/>
                <a:cs typeface="Times New Roman" panose="02020603050405020304"/>
                <a:sym typeface="Times New Roman" panose="02020603050405020304"/>
              </a:rPr>
              <a:t>C</a:t>
            </a:r>
            <a:r>
              <a:rPr lang="en-US" sz="2400">
                <a:latin typeface="Times New Roman" panose="02020603050405020304"/>
                <a:ea typeface="Times New Roman" panose="02020603050405020304"/>
                <a:cs typeface="Times New Roman" panose="02020603050405020304"/>
                <a:sym typeface="Times New Roman" panose="02020603050405020304"/>
              </a:rPr>
              <a:t>onsumers have different purchasing intentions for different lipstick naming styles, but compared to celebrity naming, normal color naming style is more popular.</a:t>
            </a:r>
            <a:endParaRPr sz="24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20000"/>
              </a:lnSpc>
              <a:spcBef>
                <a:spcPts val="0"/>
              </a:spcBef>
              <a:spcAft>
                <a:spcPts val="0"/>
              </a:spcAft>
              <a:buNone/>
            </a:pPr>
            <a:endParaRPr sz="2400">
              <a:latin typeface="Times New Roman" panose="02020603050405020304"/>
              <a:ea typeface="Times New Roman" panose="02020603050405020304"/>
              <a:cs typeface="Times New Roman" panose="02020603050405020304"/>
              <a:sym typeface="Times New Roman" panose="02020603050405020304"/>
            </a:endParaRPr>
          </a:p>
          <a:p>
            <a:pPr marL="228600" lvl="0" indent="-266700" algn="just" rtl="0">
              <a:lnSpc>
                <a:spcPct val="120000"/>
              </a:lnSpc>
              <a:spcBef>
                <a:spcPts val="1000"/>
              </a:spcBef>
              <a:spcAft>
                <a:spcPts val="0"/>
              </a:spcAft>
              <a:buClr>
                <a:schemeClr val="dk1"/>
              </a:buClr>
              <a:buSzPts val="2400"/>
              <a:buFont typeface="Times New Roman" panose="02020603050405020304"/>
              <a:buChar char="•"/>
            </a:pPr>
            <a:r>
              <a:rPr lang="en-US" sz="2400">
                <a:latin typeface="Times New Roman" panose="02020603050405020304"/>
                <a:ea typeface="Times New Roman" panose="02020603050405020304"/>
                <a:cs typeface="Times New Roman" panose="02020603050405020304"/>
                <a:sym typeface="Times New Roman" panose="02020603050405020304"/>
              </a:rPr>
              <a:t>Celebrity naming style does not play a role in consumers' perceived uniqueness, but consumers' perceived uniqueness does have a positive impact on purchase intention.</a:t>
            </a:r>
            <a:endParaRPr sz="2400">
              <a:latin typeface="Times New Roman" panose="02020603050405020304"/>
              <a:ea typeface="Times New Roman" panose="02020603050405020304"/>
              <a:cs typeface="Times New Roman" panose="02020603050405020304"/>
              <a:sym typeface="Times New Roman" panose="02020603050405020304"/>
            </a:endParaRPr>
          </a:p>
          <a:p>
            <a:pPr marL="228600" lvl="0" indent="0" algn="just" rtl="0">
              <a:lnSpc>
                <a:spcPct val="120000"/>
              </a:lnSpc>
              <a:spcBef>
                <a:spcPts val="1000"/>
              </a:spcBef>
              <a:spcAft>
                <a:spcPts val="0"/>
              </a:spcAft>
              <a:buNone/>
            </a:pPr>
          </a:p>
          <a:p>
            <a:pPr marL="228600" lvl="0" indent="-114300" algn="l" rtl="0">
              <a:lnSpc>
                <a:spcPct val="90000"/>
              </a:lnSpc>
              <a:spcBef>
                <a:spcPts val="1000"/>
              </a:spcBef>
              <a:spcAft>
                <a:spcPts val="0"/>
              </a:spcAft>
              <a:buClr>
                <a:schemeClr val="dk1"/>
              </a:buClr>
              <a:buSzPts val="1800"/>
              <a:buNone/>
            </a:p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89" name="Shape 389"/>
        <p:cNvGrpSpPr/>
        <p:nvPr/>
      </p:nvGrpSpPr>
      <p:grpSpPr>
        <a:xfrm>
          <a:off x="0" y="0"/>
          <a:ext cx="0" cy="0"/>
          <a:chOff x="0" y="0"/>
          <a:chExt cx="0" cy="0"/>
        </a:xfrm>
      </p:grpSpPr>
      <p:sp>
        <p:nvSpPr>
          <p:cNvPr id="390" name="Google Shape;390;g2cd7203bce8_2_12"/>
          <p:cNvSpPr txBox="1"/>
          <p:nvPr/>
        </p:nvSpPr>
        <p:spPr>
          <a:xfrm>
            <a:off x="1532602" y="474590"/>
            <a:ext cx="7391700" cy="601800"/>
          </a:xfrm>
          <a:prstGeom prst="rect">
            <a:avLst/>
          </a:prstGeom>
          <a:noFill/>
          <a:ln>
            <a:noFill/>
          </a:ln>
        </p:spPr>
        <p:txBody>
          <a:bodyPr spcFirstLastPara="1" wrap="square" lIns="91425" tIns="45700" rIns="91425" bIns="45700" anchor="b" anchorCtr="0">
            <a:normAutofit lnSpcReduction="20000"/>
          </a:bodyPr>
          <a:lstStyle/>
          <a:p>
            <a:pPr marL="0" lvl="0" indent="0" algn="l" rtl="0">
              <a:lnSpc>
                <a:spcPct val="90000"/>
              </a:lnSpc>
              <a:spcBef>
                <a:spcPts val="0"/>
              </a:spcBef>
              <a:spcAft>
                <a:spcPts val="0"/>
              </a:spcAft>
              <a:buNone/>
            </a:pPr>
            <a:r>
              <a:rPr lang="en-US" sz="4400">
                <a:solidFill>
                  <a:srgbClr val="262626"/>
                </a:solidFill>
                <a:latin typeface="Times New Roman" panose="02020603050405020304"/>
                <a:ea typeface="Times New Roman" panose="02020603050405020304"/>
                <a:cs typeface="Times New Roman" panose="02020603050405020304"/>
                <a:sym typeface="Times New Roman" panose="02020603050405020304"/>
              </a:rPr>
              <a:t>Limitations</a:t>
            </a:r>
            <a:endParaRPr sz="3200">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91" name="Google Shape;391;g2cd7203bce8_2_12"/>
          <p:cNvPicPr preferRelativeResize="0"/>
          <p:nvPr/>
        </p:nvPicPr>
        <p:blipFill rotWithShape="1">
          <a:blip r:embed="rId1"/>
          <a:srcRect l="36208" t="1589" r="45448" b="80164"/>
          <a:stretch>
            <a:fillRect/>
          </a:stretch>
        </p:blipFill>
        <p:spPr>
          <a:xfrm>
            <a:off x="4422277" y="1819760"/>
            <a:ext cx="3434534" cy="3416270"/>
          </a:xfrm>
          <a:prstGeom prst="rect">
            <a:avLst/>
          </a:prstGeom>
          <a:noFill/>
          <a:ln>
            <a:noFill/>
          </a:ln>
        </p:spPr>
      </p:pic>
      <p:pic>
        <p:nvPicPr>
          <p:cNvPr id="392" name="Google Shape;392;g2cd7203bce8_2_12"/>
          <p:cNvPicPr preferRelativeResize="0"/>
          <p:nvPr/>
        </p:nvPicPr>
        <p:blipFill rotWithShape="1">
          <a:blip r:embed="rId2"/>
          <a:srcRect l="14494" r="14487"/>
          <a:stretch>
            <a:fillRect/>
          </a:stretch>
        </p:blipFill>
        <p:spPr>
          <a:xfrm>
            <a:off x="5127171" y="2764969"/>
            <a:ext cx="1937700" cy="1937700"/>
          </a:xfrm>
          <a:prstGeom prst="ellipse">
            <a:avLst/>
          </a:prstGeom>
          <a:noFill/>
          <a:ln>
            <a:noFill/>
          </a:ln>
        </p:spPr>
      </p:pic>
      <p:sp>
        <p:nvSpPr>
          <p:cNvPr id="393" name="Google Shape;393;g2cd7203bce8_2_12"/>
          <p:cNvSpPr txBox="1"/>
          <p:nvPr/>
        </p:nvSpPr>
        <p:spPr>
          <a:xfrm>
            <a:off x="8778025" y="3563725"/>
            <a:ext cx="2282400" cy="3402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2600">
                <a:solidFill>
                  <a:schemeClr val="dk1"/>
                </a:solidFill>
                <a:latin typeface="Times New Roman" panose="02020603050405020304"/>
                <a:ea typeface="Times New Roman" panose="02020603050405020304"/>
                <a:cs typeface="Times New Roman" panose="02020603050405020304"/>
                <a:sym typeface="Times New Roman" panose="02020603050405020304"/>
              </a:rPr>
              <a:t>Questionnaire</a:t>
            </a:r>
            <a:endParaRPr sz="2600"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94" name="Google Shape;394;g2cd7203bce8_2_12"/>
          <p:cNvPicPr preferRelativeResize="0"/>
          <p:nvPr/>
        </p:nvPicPr>
        <p:blipFill rotWithShape="1">
          <a:blip r:embed="rId3"/>
          <a:srcRect/>
          <a:stretch>
            <a:fillRect/>
          </a:stretch>
        </p:blipFill>
        <p:spPr>
          <a:xfrm>
            <a:off x="8201287" y="3451741"/>
            <a:ext cx="565792" cy="408437"/>
          </a:xfrm>
          <a:prstGeom prst="rect">
            <a:avLst/>
          </a:prstGeom>
          <a:noFill/>
          <a:ln>
            <a:noFill/>
          </a:ln>
        </p:spPr>
      </p:pic>
      <p:sp>
        <p:nvSpPr>
          <p:cNvPr id="395" name="Google Shape;395;g2cd7203bce8_2_12"/>
          <p:cNvSpPr txBox="1"/>
          <p:nvPr/>
        </p:nvSpPr>
        <p:spPr>
          <a:xfrm>
            <a:off x="75650" y="3429000"/>
            <a:ext cx="3349200" cy="474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r>
              <a:rPr lang="en-US" sz="2600">
                <a:solidFill>
                  <a:srgbClr val="262626"/>
                </a:solidFill>
                <a:latin typeface="Times New Roman" panose="02020603050405020304"/>
                <a:ea typeface="Times New Roman" panose="02020603050405020304"/>
                <a:cs typeface="Times New Roman" panose="02020603050405020304"/>
                <a:sym typeface="Times New Roman" panose="02020603050405020304"/>
              </a:rPr>
              <a:t>Sampling method</a:t>
            </a:r>
            <a:endParaRPr sz="2600">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96" name="Google Shape;396;g2cd7203bce8_2_12"/>
          <p:cNvPicPr preferRelativeResize="0"/>
          <p:nvPr/>
        </p:nvPicPr>
        <p:blipFill rotWithShape="1">
          <a:blip r:embed="rId3"/>
          <a:srcRect/>
          <a:stretch>
            <a:fillRect/>
          </a:stretch>
        </p:blipFill>
        <p:spPr>
          <a:xfrm flipH="1">
            <a:off x="3422676" y="3451741"/>
            <a:ext cx="565792" cy="408437"/>
          </a:xfrm>
          <a:prstGeom prst="rect">
            <a:avLst/>
          </a:prstGeom>
          <a:noFill/>
          <a:ln>
            <a:noFill/>
          </a:ln>
        </p:spPr>
      </p:pic>
      <p:sp>
        <p:nvSpPr>
          <p:cNvPr id="397" name="Google Shape;397;g2cd7203bce8_2_12"/>
          <p:cNvSpPr txBox="1"/>
          <p:nvPr/>
        </p:nvSpPr>
        <p:spPr>
          <a:xfrm>
            <a:off x="4956475" y="5770800"/>
            <a:ext cx="2108400" cy="4749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2600">
                <a:solidFill>
                  <a:schemeClr val="dk1"/>
                </a:solidFill>
                <a:latin typeface="Times New Roman" panose="02020603050405020304"/>
                <a:ea typeface="Times New Roman" panose="02020603050405020304"/>
                <a:cs typeface="Times New Roman" panose="02020603050405020304"/>
                <a:sym typeface="Times New Roman" panose="02020603050405020304"/>
              </a:rPr>
              <a:t>Celebrities</a:t>
            </a:r>
            <a:endParaRPr sz="2600" b="1">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98" name="Google Shape;398;g2cd7203bce8_2_12"/>
          <p:cNvPicPr preferRelativeResize="0"/>
          <p:nvPr/>
        </p:nvPicPr>
        <p:blipFill rotWithShape="1">
          <a:blip r:embed="rId3"/>
          <a:srcRect/>
          <a:stretch>
            <a:fillRect/>
          </a:stretch>
        </p:blipFill>
        <p:spPr>
          <a:xfrm>
            <a:off x="5813104" y="5273037"/>
            <a:ext cx="565792" cy="40843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402" name="Shape 402"/>
        <p:cNvGrpSpPr/>
        <p:nvPr/>
      </p:nvGrpSpPr>
      <p:grpSpPr>
        <a:xfrm>
          <a:off x="0" y="0"/>
          <a:ext cx="0" cy="0"/>
          <a:chOff x="0" y="0"/>
          <a:chExt cx="0" cy="0"/>
        </a:xfrm>
      </p:grpSpPr>
      <p:pic>
        <p:nvPicPr>
          <p:cNvPr id="403" name="Google Shape;403;p22"/>
          <p:cNvPicPr preferRelativeResize="0"/>
          <p:nvPr/>
        </p:nvPicPr>
        <p:blipFill rotWithShape="1">
          <a:blip r:embed="rId1"/>
          <a:srcRect/>
          <a:stretch>
            <a:fillRect/>
          </a:stretch>
        </p:blipFill>
        <p:spPr>
          <a:xfrm>
            <a:off x="1621179" y="4336248"/>
            <a:ext cx="3111300" cy="2072700"/>
          </a:xfrm>
          <a:prstGeom prst="roundRect">
            <a:avLst>
              <a:gd name="adj" fmla="val 9505"/>
            </a:avLst>
          </a:prstGeom>
          <a:noFill/>
          <a:ln>
            <a:noFill/>
          </a:ln>
        </p:spPr>
      </p:pic>
      <p:pic>
        <p:nvPicPr>
          <p:cNvPr id="404" name="Google Shape;404;p22"/>
          <p:cNvPicPr preferRelativeResize="0"/>
          <p:nvPr/>
        </p:nvPicPr>
        <p:blipFill rotWithShape="1">
          <a:blip r:embed="rId2"/>
          <a:srcRect/>
          <a:stretch>
            <a:fillRect/>
          </a:stretch>
        </p:blipFill>
        <p:spPr>
          <a:xfrm>
            <a:off x="7747797" y="4372848"/>
            <a:ext cx="3125700" cy="2082000"/>
          </a:xfrm>
          <a:prstGeom prst="roundRect">
            <a:avLst>
              <a:gd name="adj" fmla="val 9505"/>
            </a:avLst>
          </a:prstGeom>
          <a:noFill/>
          <a:ln>
            <a:noFill/>
          </a:ln>
        </p:spPr>
      </p:pic>
      <p:sp>
        <p:nvSpPr>
          <p:cNvPr id="405" name="Google Shape;405;p22"/>
          <p:cNvSpPr txBox="1"/>
          <p:nvPr/>
        </p:nvSpPr>
        <p:spPr>
          <a:xfrm>
            <a:off x="1532602" y="475015"/>
            <a:ext cx="7391700" cy="601800"/>
          </a:xfrm>
          <a:prstGeom prst="rect">
            <a:avLst/>
          </a:prstGeom>
          <a:noFill/>
          <a:ln>
            <a:noFill/>
          </a:ln>
        </p:spPr>
        <p:txBody>
          <a:bodyPr spcFirstLastPara="1" wrap="square" lIns="91425" tIns="45700" rIns="91425" bIns="45700" anchor="b" anchorCtr="0">
            <a:normAutofit lnSpcReduction="20000"/>
          </a:bodyPr>
          <a:lstStyle/>
          <a:p>
            <a:pPr marL="0" marR="0" lvl="0" indent="0" algn="l" rtl="0">
              <a:lnSpc>
                <a:spcPct val="90000"/>
              </a:lnSpc>
              <a:spcBef>
                <a:spcPts val="0"/>
              </a:spcBef>
              <a:spcAft>
                <a:spcPts val="0"/>
              </a:spcAft>
              <a:buNone/>
            </a:pPr>
            <a:r>
              <a:rPr lang="en-US" sz="4400">
                <a:solidFill>
                  <a:srgbClr val="262626"/>
                </a:solidFill>
                <a:latin typeface="Times New Roman" panose="02020603050405020304"/>
                <a:ea typeface="Times New Roman" panose="02020603050405020304"/>
                <a:cs typeface="Times New Roman" panose="02020603050405020304"/>
                <a:sym typeface="Times New Roman" panose="02020603050405020304"/>
              </a:rPr>
              <a:t>Implications</a:t>
            </a:r>
            <a:endParaRPr sz="3200">
              <a:solidFill>
                <a:srgbClr val="26262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6" name="Google Shape;406;p22"/>
          <p:cNvSpPr txBox="1"/>
          <p:nvPr/>
        </p:nvSpPr>
        <p:spPr>
          <a:xfrm>
            <a:off x="739997" y="1541625"/>
            <a:ext cx="4469700" cy="3402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264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Theoretical Significance</a:t>
            </a:r>
            <a:endParaRPr sz="264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7" name="Google Shape;407;p22"/>
          <p:cNvSpPr txBox="1"/>
          <p:nvPr/>
        </p:nvSpPr>
        <p:spPr>
          <a:xfrm>
            <a:off x="7219800" y="1541625"/>
            <a:ext cx="4181700" cy="34020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26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Practical Significance</a:t>
            </a:r>
            <a:endParaRPr sz="26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8" name="Google Shape;408;p22"/>
          <p:cNvSpPr txBox="1"/>
          <p:nvPr>
            <p:ph type="body" idx="4294967295"/>
          </p:nvPr>
        </p:nvSpPr>
        <p:spPr>
          <a:xfrm>
            <a:off x="625025" y="2068500"/>
            <a:ext cx="5256000" cy="2032800"/>
          </a:xfrm>
          <a:prstGeom prst="rect">
            <a:avLst/>
          </a:prstGeom>
          <a:noFill/>
          <a:ln>
            <a:noFill/>
          </a:ln>
        </p:spPr>
        <p:txBody>
          <a:bodyPr spcFirstLastPara="1" wrap="square" lIns="91425" tIns="45700" rIns="91425" bIns="45700" anchor="t" anchorCtr="0">
            <a:normAutofit fontScale="25000" lnSpcReduction="20000"/>
          </a:bodyPr>
          <a:lstStyle/>
          <a:p>
            <a:pPr marL="0" lvl="0" indent="0" algn="just" rtl="0">
              <a:lnSpc>
                <a:spcPct val="115000"/>
              </a:lnSpc>
              <a:spcBef>
                <a:spcPts val="1200"/>
              </a:spcBef>
              <a:spcAft>
                <a:spcPts val="0"/>
              </a:spcAft>
              <a:buClr>
                <a:schemeClr val="dk1"/>
              </a:buClr>
              <a:buSzPts val="275"/>
              <a:buFont typeface="Arial" panose="020B0604020202020204"/>
              <a:buNone/>
            </a:pPr>
            <a:r>
              <a:rPr lang="en-US" sz="8800">
                <a:latin typeface="Times New Roman" panose="02020603050405020304"/>
                <a:ea typeface="Times New Roman" panose="02020603050405020304"/>
                <a:cs typeface="Times New Roman" panose="02020603050405020304"/>
                <a:sym typeface="Times New Roman" panose="02020603050405020304"/>
              </a:rPr>
              <a:t>This study starts from a specific naming style, that is, celebrity naming, and deeply explores the impact of naming styles on consumers' perception of uniqueness from the psychological level. It fills the gap in this field and is of innovative significance.</a:t>
            </a:r>
            <a:endParaRPr sz="880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20000"/>
              </a:lnSpc>
              <a:spcBef>
                <a:spcPts val="1200"/>
              </a:spcBef>
              <a:spcAft>
                <a:spcPts val="0"/>
              </a:spcAft>
              <a:buNone/>
            </a:pPr>
            <a:endParaRPr sz="9600"/>
          </a:p>
          <a:p>
            <a:pPr marL="228600" lvl="0" indent="0" algn="just" rtl="0">
              <a:lnSpc>
                <a:spcPct val="120000"/>
              </a:lnSpc>
              <a:spcBef>
                <a:spcPts val="1000"/>
              </a:spcBef>
              <a:spcAft>
                <a:spcPts val="0"/>
              </a:spcAft>
              <a:buNone/>
            </a:pPr>
          </a:p>
          <a:p>
            <a:pPr marL="228600" lvl="0" indent="-114300" algn="l" rtl="0">
              <a:lnSpc>
                <a:spcPct val="90000"/>
              </a:lnSpc>
              <a:spcBef>
                <a:spcPts val="1000"/>
              </a:spcBef>
              <a:spcAft>
                <a:spcPts val="0"/>
              </a:spcAft>
              <a:buClr>
                <a:schemeClr val="dk1"/>
              </a:buClr>
              <a:buSzPct val="64000"/>
              <a:buNone/>
            </a:pPr>
          </a:p>
        </p:txBody>
      </p:sp>
      <p:sp>
        <p:nvSpPr>
          <p:cNvPr id="409" name="Google Shape;409;p22"/>
          <p:cNvSpPr txBox="1"/>
          <p:nvPr>
            <p:ph type="body" idx="4294967295"/>
          </p:nvPr>
        </p:nvSpPr>
        <p:spPr>
          <a:xfrm>
            <a:off x="6340025" y="2144700"/>
            <a:ext cx="5406000" cy="1806600"/>
          </a:xfrm>
          <a:prstGeom prst="rect">
            <a:avLst/>
          </a:prstGeom>
          <a:noFill/>
          <a:ln>
            <a:noFill/>
          </a:ln>
        </p:spPr>
        <p:txBody>
          <a:bodyPr spcFirstLastPara="1" wrap="square" lIns="91425" tIns="45700" rIns="91425" bIns="45700" anchor="t" anchorCtr="0">
            <a:normAutofit fontScale="25000" lnSpcReduction="20000"/>
          </a:bodyPr>
          <a:lstStyle/>
          <a:p>
            <a:pPr marL="457200" lvl="0" indent="-368300" algn="just" rtl="0">
              <a:lnSpc>
                <a:spcPct val="115000"/>
              </a:lnSpc>
              <a:spcBef>
                <a:spcPts val="1200"/>
              </a:spcBef>
              <a:spcAft>
                <a:spcPts val="0"/>
              </a:spcAft>
              <a:buSzPct val="100000"/>
              <a:buFont typeface="Times New Roman" panose="02020603050405020304"/>
              <a:buChar char="•"/>
            </a:pPr>
            <a:r>
              <a:rPr lang="en-US" sz="8800">
                <a:latin typeface="Times New Roman" panose="02020603050405020304"/>
                <a:ea typeface="Times New Roman" panose="02020603050405020304"/>
                <a:cs typeface="Times New Roman" panose="02020603050405020304"/>
                <a:sym typeface="Times New Roman" panose="02020603050405020304"/>
              </a:rPr>
              <a:t>Product naming styles: adjective naming, role identity naming style, ect.</a:t>
            </a:r>
            <a:endParaRPr sz="8800">
              <a:latin typeface="Times New Roman" panose="02020603050405020304"/>
              <a:ea typeface="Times New Roman" panose="02020603050405020304"/>
              <a:cs typeface="Times New Roman" panose="02020603050405020304"/>
              <a:sym typeface="Times New Roman" panose="02020603050405020304"/>
            </a:endParaRPr>
          </a:p>
          <a:p>
            <a:pPr marL="457200" lvl="0" indent="-368300" algn="just" rtl="0">
              <a:lnSpc>
                <a:spcPct val="120000"/>
              </a:lnSpc>
              <a:spcBef>
                <a:spcPts val="0"/>
              </a:spcBef>
              <a:spcAft>
                <a:spcPts val="0"/>
              </a:spcAft>
              <a:buSzPct val="100000"/>
              <a:buFont typeface="Times New Roman" panose="02020603050405020304"/>
              <a:buChar char="•"/>
            </a:pPr>
            <a:r>
              <a:rPr lang="en-US" sz="8800">
                <a:latin typeface="Times New Roman" panose="02020603050405020304"/>
                <a:ea typeface="Times New Roman" panose="02020603050405020304"/>
                <a:cs typeface="Times New Roman" panose="02020603050405020304"/>
                <a:sym typeface="Times New Roman" panose="02020603050405020304"/>
              </a:rPr>
              <a:t>Improve consumers' perception of the uniqueness of the product: customized services, personalized advertising, etc.</a:t>
            </a:r>
            <a:endParaRPr sz="8800">
              <a:latin typeface="Times New Roman" panose="02020603050405020304"/>
              <a:ea typeface="Times New Roman" panose="02020603050405020304"/>
              <a:cs typeface="Times New Roman" panose="02020603050405020304"/>
              <a:sym typeface="Times New Roman" panose="02020603050405020304"/>
            </a:endParaRPr>
          </a:p>
          <a:p>
            <a:pPr marL="228600" lvl="0" indent="0" algn="just" rtl="0">
              <a:lnSpc>
                <a:spcPct val="120000"/>
              </a:lnSpc>
              <a:spcBef>
                <a:spcPts val="1000"/>
              </a:spcBef>
              <a:spcAft>
                <a:spcPts val="0"/>
              </a:spcAft>
              <a:buNone/>
            </a:pPr>
          </a:p>
          <a:p>
            <a:pPr marL="228600" lvl="0" indent="-114300" algn="l" rtl="0">
              <a:lnSpc>
                <a:spcPct val="90000"/>
              </a:lnSpc>
              <a:spcBef>
                <a:spcPts val="1000"/>
              </a:spcBef>
              <a:spcAft>
                <a:spcPts val="0"/>
              </a:spcAft>
              <a:buClr>
                <a:schemeClr val="dk1"/>
              </a:buClr>
              <a:buSzPct val="64000"/>
              <a:buNone/>
            </a:p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413" name="Shape 413"/>
        <p:cNvGrpSpPr/>
        <p:nvPr/>
      </p:nvGrpSpPr>
      <p:grpSpPr>
        <a:xfrm>
          <a:off x="0" y="0"/>
          <a:ext cx="0" cy="0"/>
          <a:chOff x="0" y="0"/>
          <a:chExt cx="0" cy="0"/>
        </a:xfrm>
      </p:grpSpPr>
      <p:sp>
        <p:nvSpPr>
          <p:cNvPr id="414" name="Google Shape;414;p24"/>
          <p:cNvSpPr/>
          <p:nvPr/>
        </p:nvSpPr>
        <p:spPr>
          <a:xfrm>
            <a:off x="4662452" y="2730350"/>
            <a:ext cx="4440300" cy="1107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600">
                <a:solidFill>
                  <a:schemeClr val="accent1"/>
                </a:solidFill>
                <a:latin typeface="Times New Roman" panose="02020603050405020304"/>
                <a:ea typeface="Times New Roman" panose="02020603050405020304"/>
                <a:cs typeface="Times New Roman" panose="02020603050405020304"/>
                <a:sym typeface="Times New Roman" panose="02020603050405020304"/>
              </a:rPr>
              <a:t>THANKS！</a:t>
            </a:r>
            <a:r>
              <a:rPr lang="en-US" sz="6600">
                <a:solidFill>
                  <a:schemeClr val="accent1"/>
                </a:solidFill>
                <a:latin typeface="Times New Roman" panose="02020603050405020304"/>
                <a:ea typeface="Times New Roman" panose="02020603050405020304"/>
                <a:cs typeface="Times New Roman" panose="02020603050405020304"/>
                <a:sym typeface="Times New Roman" panose="02020603050405020304"/>
              </a:rPr>
              <a:t> </a:t>
            </a:r>
            <a:endParaRPr sz="6600">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p="http://schemas.openxmlformats.org/presentationml/2006/main">
  <p:tag name="commondata" val="eyJjb3VudCI6MSwiaGRpZCI6IjZhNmU4ZTliMWY2NWRkZWE2MDI0MGZhNDcxNDY4NTZjIiwidXNlckNvdW50IjoxfQ=="/>
</p:tagLst>
</file>

<file path=ppt/theme/theme1.xml><?xml version="1.0" encoding="utf-8"?>
<a:theme xmlns:a="http://schemas.openxmlformats.org/drawingml/2006/main" name="Office 主题">
  <a:themeElements>
    <a:clrScheme name="配色方案">
      <a:dk1>
        <a:srgbClr val="000000"/>
      </a:dk1>
      <a:lt1>
        <a:srgbClr val="FFFFFF"/>
      </a:lt1>
      <a:dk2>
        <a:srgbClr val="44546A"/>
      </a:dk2>
      <a:lt2>
        <a:srgbClr val="E7E6E6"/>
      </a:lt2>
      <a:accent1>
        <a:srgbClr val="B92D61"/>
      </a:accent1>
      <a:accent2>
        <a:srgbClr val="FFA1C3"/>
      </a:accent2>
      <a:accent3>
        <a:srgbClr val="FFD1DE"/>
      </a:accent3>
      <a:accent4>
        <a:srgbClr val="F2F2F2"/>
      </a:accent4>
      <a:accent5>
        <a:srgbClr val="FFFFFF"/>
      </a:accent5>
      <a:accent6>
        <a:srgbClr val="C5E0B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9146</Words>
  <Application>WPS 演示</Application>
  <PresentationFormat/>
  <Paragraphs>309</Paragraphs>
  <Slides>31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Arial</vt:lpstr>
      <vt:lpstr>宋体</vt:lpstr>
      <vt:lpstr>Wingdings</vt:lpstr>
      <vt:lpstr>Arial</vt:lpstr>
      <vt:lpstr>Times New Roman</vt:lpstr>
      <vt:lpstr>Calibri</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Summary of Findings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MashiMaro</dc:creator>
  <cp:lastModifiedBy>什么。</cp:lastModifiedBy>
  <cp:revision>2</cp:revision>
  <dcterms:created xsi:type="dcterms:W3CDTF">2024-04-19T14:50:00Z</dcterms:created>
  <dcterms:modified xsi:type="dcterms:W3CDTF">2024-04-20T13:20:06Z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KSOTemplateUUID">
    <vt:lpwstr>v1.0_mb_afNxKL6mvcPrEfKQ1gkPQw==</vt:lpwstr>
  </property>
  <property fmtid="{D5CDD505-2E9C-101B-9397-08002B2CF9AE}" pid="4" name="ICV">
    <vt:lpwstr>4D80E21C295BCFB1A084226682B5F18E_43</vt:lpwstr>
  </property>
</Properties>
</file>